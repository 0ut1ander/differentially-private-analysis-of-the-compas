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99C36D-B991-4D8B-8B2D-DFE122FA7C08}">
  <a:tblStyle styleId="{BF99C36D-B991-4D8B-8B2D-DFE122FA7C08}"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Roboto-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src.nist.gov/pubs/sp/800/122/final" TargetMode="External"/><Relationship Id="rId3" Type="http://schemas.openxmlformats.org/officeDocument/2006/relationships/hyperlink" Target="https://www.federalregister.gov/documents/2024/12/13/2024-28690/protecting-americans-from-harmful-data-broker-practices-regulation-v"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a468014b8_1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g3aa468014b8_1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ed17585c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ed17585c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a468014b8_1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37" name="Google Shape;137;g3aa468014b8_1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ed17585c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ed17585c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9ea5c8ea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52" name="Google Shape;152;g3a9ea5c8ea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f67902f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f67902f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9ea5c8ea3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64" name="Google Shape;164;g3a9ea5c8ea3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ebe2a45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ebe2a45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PII reference: NIST SP 800-122 Guide to Protecting the Confidentiality of Personally Identifiable Information (PII) </a:t>
            </a:r>
            <a:r>
              <a:rPr lang="en" u="sng">
                <a:solidFill>
                  <a:schemeClr val="hlink"/>
                </a:solidFill>
                <a:hlinkClick r:id="rId2"/>
              </a:rPr>
              <a:t>https://csrc.nist.gov/pubs/sp/800/122/final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SPII </a:t>
            </a:r>
            <a:r>
              <a:rPr lang="en"/>
              <a:t>reference</a:t>
            </a:r>
            <a:r>
              <a:rPr lang="en"/>
              <a:t>: Protecting Americans From Harmful Data Broker Practices (Regulation V) </a:t>
            </a:r>
            <a:r>
              <a:rPr lang="en" u="sng">
                <a:solidFill>
                  <a:schemeClr val="hlink"/>
                </a:solidFill>
                <a:hlinkClick r:id="rId3"/>
              </a:rPr>
              <a:t>https://www.federalregister.gov/documents/2024/12/13/2024-28690/protecting-americans-from-harmful-data-broker-practices-regulation-v</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Indirect Identifiers: L. Sweeney, Simple Demographics Often Identify People Uniquely. Carnegie Mellon University, Data</a:t>
            </a:r>
            <a:endParaRPr/>
          </a:p>
          <a:p>
            <a:pPr indent="0" lvl="0" marL="0" rtl="0" algn="l">
              <a:spcBef>
                <a:spcPts val="0"/>
              </a:spcBef>
              <a:spcAft>
                <a:spcPts val="0"/>
              </a:spcAft>
              <a:buNone/>
            </a:pPr>
            <a:r>
              <a:rPr lang="en"/>
              <a:t>Privacy Working Paper 3. Pittsburgh 2000.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ed17585c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ed17585c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9ea5c8ea3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82" name="Google Shape;182;g3a9ea5c8ea3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f21394809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91" name="Google Shape;191;g3af21394809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5f3f3b499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200" name="Google Shape;200;g3a5f3f3b499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f21394809_4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207" name="Google Shape;207;g3af21394809_4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f21394809_4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214" name="Google Shape;214;g3af21394809_4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f21394809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f21394809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f21394809_4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f21394809_4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9ea5c8ea3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243" name="Google Shape;243;g3a9ea5c8ea3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9ea5c8ea3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249" name="Google Shape;249;g3a9ea5c8ea3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a468014b8_1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255" name="Google Shape;255;g3aa468014b8_1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a468014b8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3aa468014b8_1_6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image" Target="../media/image12.png"/><Relationship Id="rId4" Type="http://schemas.openxmlformats.org/officeDocument/2006/relationships/image" Target="../media/image2.png"/><Relationship Id="rId11" Type="http://schemas.openxmlformats.org/officeDocument/2006/relationships/image" Target="../media/image5.png"/><Relationship Id="rId10" Type="http://schemas.openxmlformats.org/officeDocument/2006/relationships/image" Target="../media/image19.png"/><Relationship Id="rId9" Type="http://schemas.openxmlformats.org/officeDocument/2006/relationships/image" Target="../media/image14.jpg"/><Relationship Id="rId5" Type="http://schemas.openxmlformats.org/officeDocument/2006/relationships/image" Target="../media/image18.jpg"/><Relationship Id="rId6" Type="http://schemas.openxmlformats.org/officeDocument/2006/relationships/image" Target="../media/image7.jpg"/><Relationship Id="rId7" Type="http://schemas.openxmlformats.org/officeDocument/2006/relationships/image" Target="../media/image22.jpg"/><Relationship Id="rId8" Type="http://schemas.openxmlformats.org/officeDocument/2006/relationships/image" Target="../media/image1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1" type="title">
  <p:cSld name="TITLE">
    <p:spTree>
      <p:nvGrpSpPr>
        <p:cNvPr id="87" name="Shape 87"/>
        <p:cNvGrpSpPr/>
        <p:nvPr/>
      </p:nvGrpSpPr>
      <p:grpSpPr>
        <a:xfrm>
          <a:off x="0" y="0"/>
          <a:ext cx="0" cy="0"/>
          <a:chOff x="0" y="0"/>
          <a:chExt cx="0" cy="0"/>
        </a:xfrm>
      </p:grpSpPr>
      <p:pic>
        <p:nvPicPr>
          <p:cNvPr descr="A white paper with a small amount of texture&#10;&#10;Description automatically generated" id="88" name="Google Shape;88;p14"/>
          <p:cNvPicPr preferRelativeResize="0"/>
          <p:nvPr/>
        </p:nvPicPr>
        <p:blipFill rotWithShape="1">
          <a:blip r:embed="rId2">
            <a:alphaModFix/>
          </a:blip>
          <a:srcRect b="0" l="0" r="0" t="57296"/>
          <a:stretch/>
        </p:blipFill>
        <p:spPr>
          <a:xfrm>
            <a:off x="0" y="12221"/>
            <a:ext cx="4663910" cy="804151"/>
          </a:xfrm>
          <a:prstGeom prst="rect">
            <a:avLst/>
          </a:prstGeom>
          <a:noFill/>
          <a:ln>
            <a:noFill/>
          </a:ln>
        </p:spPr>
      </p:pic>
      <p:pic>
        <p:nvPicPr>
          <p:cNvPr descr="A group of circles on a black background&#10;&#10;Description automatically generated" id="89" name="Google Shape;89;p14"/>
          <p:cNvPicPr preferRelativeResize="0"/>
          <p:nvPr/>
        </p:nvPicPr>
        <p:blipFill rotWithShape="1">
          <a:blip r:embed="rId3">
            <a:alphaModFix/>
          </a:blip>
          <a:srcRect b="37226" l="9425" r="0" t="44656"/>
          <a:stretch/>
        </p:blipFill>
        <p:spPr>
          <a:xfrm>
            <a:off x="-1" y="119413"/>
            <a:ext cx="3581008" cy="553463"/>
          </a:xfrm>
          <a:prstGeom prst="rect">
            <a:avLst/>
          </a:prstGeom>
          <a:noFill/>
          <a:ln>
            <a:noFill/>
          </a:ln>
        </p:spPr>
      </p:pic>
      <p:pic>
        <p:nvPicPr>
          <p:cNvPr descr="A group of circles on a black background&#10;&#10;Description automatically generated" id="90" name="Google Shape;90;p14"/>
          <p:cNvPicPr preferRelativeResize="0"/>
          <p:nvPr/>
        </p:nvPicPr>
        <p:blipFill rotWithShape="1">
          <a:blip r:embed="rId4">
            <a:alphaModFix/>
          </a:blip>
          <a:srcRect b="5186" l="0" r="0" t="49590"/>
          <a:stretch/>
        </p:blipFill>
        <p:spPr>
          <a:xfrm>
            <a:off x="2806831" y="120676"/>
            <a:ext cx="1673257" cy="552202"/>
          </a:xfrm>
          <a:prstGeom prst="rect">
            <a:avLst/>
          </a:prstGeom>
          <a:noFill/>
          <a:ln>
            <a:noFill/>
          </a:ln>
        </p:spPr>
      </p:pic>
      <p:pic>
        <p:nvPicPr>
          <p:cNvPr descr="A white paper with a small amount of texture&#10;&#10;Description automatically generated" id="91" name="Google Shape;91;p14"/>
          <p:cNvPicPr preferRelativeResize="0"/>
          <p:nvPr/>
        </p:nvPicPr>
        <p:blipFill rotWithShape="1">
          <a:blip r:embed="rId2">
            <a:alphaModFix/>
          </a:blip>
          <a:srcRect b="0" l="0" r="0" t="0"/>
          <a:stretch/>
        </p:blipFill>
        <p:spPr>
          <a:xfrm>
            <a:off x="0" y="3265022"/>
            <a:ext cx="4663910" cy="1883125"/>
          </a:xfrm>
          <a:prstGeom prst="rect">
            <a:avLst/>
          </a:prstGeom>
          <a:noFill/>
          <a:ln>
            <a:noFill/>
          </a:ln>
        </p:spPr>
      </p:pic>
      <p:pic>
        <p:nvPicPr>
          <p:cNvPr descr="A group of people walking on a sidewalk&#10;&#10;Description automatically generated" id="92" name="Google Shape;92;p14"/>
          <p:cNvPicPr preferRelativeResize="0"/>
          <p:nvPr/>
        </p:nvPicPr>
        <p:blipFill rotWithShape="1">
          <a:blip r:embed="rId5">
            <a:alphaModFix/>
          </a:blip>
          <a:srcRect b="0" l="0" r="0" t="0"/>
          <a:stretch/>
        </p:blipFill>
        <p:spPr>
          <a:xfrm>
            <a:off x="1127682" y="2427698"/>
            <a:ext cx="1799342" cy="2168604"/>
          </a:xfrm>
          <a:prstGeom prst="rect">
            <a:avLst/>
          </a:prstGeom>
          <a:noFill/>
          <a:ln>
            <a:noFill/>
          </a:ln>
        </p:spPr>
      </p:pic>
      <p:pic>
        <p:nvPicPr>
          <p:cNvPr descr="A person working on a machine&#10;&#10;Description automatically generated" id="93" name="Google Shape;93;p14"/>
          <p:cNvPicPr preferRelativeResize="0"/>
          <p:nvPr/>
        </p:nvPicPr>
        <p:blipFill rotWithShape="1">
          <a:blip r:embed="rId6">
            <a:alphaModFix/>
          </a:blip>
          <a:srcRect b="0" l="0" r="0" t="0"/>
          <a:stretch/>
        </p:blipFill>
        <p:spPr>
          <a:xfrm>
            <a:off x="-2" y="2574758"/>
            <a:ext cx="1325644" cy="2023818"/>
          </a:xfrm>
          <a:prstGeom prst="rect">
            <a:avLst/>
          </a:prstGeom>
          <a:noFill/>
          <a:ln>
            <a:noFill/>
          </a:ln>
        </p:spPr>
      </p:pic>
      <p:pic>
        <p:nvPicPr>
          <p:cNvPr descr="A group of women posing for a photo&#10;&#10;Description automatically generated" id="94" name="Google Shape;94;p14"/>
          <p:cNvPicPr preferRelativeResize="0"/>
          <p:nvPr/>
        </p:nvPicPr>
        <p:blipFill rotWithShape="1">
          <a:blip r:embed="rId7">
            <a:alphaModFix/>
          </a:blip>
          <a:srcRect b="0" l="0" r="0" t="3182"/>
          <a:stretch/>
        </p:blipFill>
        <p:spPr>
          <a:xfrm>
            <a:off x="2615936" y="719091"/>
            <a:ext cx="1956064" cy="1237358"/>
          </a:xfrm>
          <a:prstGeom prst="rect">
            <a:avLst/>
          </a:prstGeom>
          <a:noFill/>
          <a:ln>
            <a:noFill/>
          </a:ln>
        </p:spPr>
      </p:pic>
      <p:pic>
        <p:nvPicPr>
          <p:cNvPr descr="A group of people looking at a yellow shirt&#10;&#10;Description automatically generated" id="95" name="Google Shape;95;p14"/>
          <p:cNvPicPr preferRelativeResize="0"/>
          <p:nvPr/>
        </p:nvPicPr>
        <p:blipFill rotWithShape="1">
          <a:blip r:embed="rId8">
            <a:alphaModFix/>
          </a:blip>
          <a:srcRect b="0" l="0" r="0" t="0"/>
          <a:stretch/>
        </p:blipFill>
        <p:spPr>
          <a:xfrm>
            <a:off x="2615936" y="1952233"/>
            <a:ext cx="1956064" cy="2642452"/>
          </a:xfrm>
          <a:prstGeom prst="rect">
            <a:avLst/>
          </a:prstGeom>
          <a:noFill/>
          <a:ln>
            <a:noFill/>
          </a:ln>
        </p:spPr>
      </p:pic>
      <p:pic>
        <p:nvPicPr>
          <p:cNvPr descr="A group of people in a lab&#10;&#10;Description automatically generated" id="96" name="Google Shape;96;p14"/>
          <p:cNvPicPr preferRelativeResize="0"/>
          <p:nvPr/>
        </p:nvPicPr>
        <p:blipFill rotWithShape="1">
          <a:blip r:embed="rId9">
            <a:alphaModFix/>
          </a:blip>
          <a:srcRect b="0" l="0" r="0" t="5228"/>
          <a:stretch/>
        </p:blipFill>
        <p:spPr>
          <a:xfrm>
            <a:off x="0" y="719091"/>
            <a:ext cx="2615936" cy="1858845"/>
          </a:xfrm>
          <a:prstGeom prst="rect">
            <a:avLst/>
          </a:prstGeom>
          <a:noFill/>
          <a:ln>
            <a:noFill/>
          </a:ln>
        </p:spPr>
      </p:pic>
      <p:sp>
        <p:nvSpPr>
          <p:cNvPr id="97" name="Google Shape;97;p14"/>
          <p:cNvSpPr/>
          <p:nvPr/>
        </p:nvSpPr>
        <p:spPr>
          <a:xfrm rot="-5400000">
            <a:off x="4288233" y="283766"/>
            <a:ext cx="5139535" cy="4572000"/>
          </a:xfrm>
          <a:prstGeom prst="rect">
            <a:avLst/>
          </a:prstGeom>
          <a:solidFill>
            <a:srgbClr val="002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98" name="Google Shape;98;p14"/>
          <p:cNvSpPr txBox="1"/>
          <p:nvPr>
            <p:ph type="ctrTitle"/>
          </p:nvPr>
        </p:nvSpPr>
        <p:spPr>
          <a:xfrm>
            <a:off x="4663912" y="841772"/>
            <a:ext cx="4480088"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lt1"/>
              </a:buClr>
              <a:buSzPts val="3600"/>
              <a:buFont typeface="Arial"/>
              <a:buNone/>
              <a:defRPr b="1" sz="3600">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 name="Google Shape;99;p14"/>
          <p:cNvSpPr txBox="1"/>
          <p:nvPr>
            <p:ph idx="1" type="subTitle"/>
          </p:nvPr>
        </p:nvSpPr>
        <p:spPr>
          <a:xfrm>
            <a:off x="4663911" y="2701528"/>
            <a:ext cx="4480089"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rgbClr val="FFCB05"/>
              </a:buClr>
              <a:buSzPts val="1800"/>
              <a:buNone/>
              <a:defRPr sz="1800">
                <a:solidFill>
                  <a:srgbClr val="FFCB05"/>
                </a:solidFill>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00" name="Google Shape;100;p14"/>
          <p:cNvSpPr/>
          <p:nvPr/>
        </p:nvSpPr>
        <p:spPr>
          <a:xfrm>
            <a:off x="4572000" y="4959678"/>
            <a:ext cx="4572000" cy="183822"/>
          </a:xfrm>
          <a:prstGeom prst="rect">
            <a:avLst/>
          </a:prstGeom>
          <a:solidFill>
            <a:srgbClr val="FFCB0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descr="A group of circles on a black background&#10;&#10;Description automatically generated" id="101" name="Google Shape;101;p14"/>
          <p:cNvPicPr preferRelativeResize="0"/>
          <p:nvPr/>
        </p:nvPicPr>
        <p:blipFill rotWithShape="1">
          <a:blip r:embed="rId3">
            <a:alphaModFix/>
          </a:blip>
          <a:srcRect b="37226" l="9425" r="0" t="44656"/>
          <a:stretch/>
        </p:blipFill>
        <p:spPr>
          <a:xfrm>
            <a:off x="-1" y="4596302"/>
            <a:ext cx="3581008" cy="553463"/>
          </a:xfrm>
          <a:prstGeom prst="rect">
            <a:avLst/>
          </a:prstGeom>
          <a:noFill/>
          <a:ln>
            <a:noFill/>
          </a:ln>
        </p:spPr>
      </p:pic>
      <p:pic>
        <p:nvPicPr>
          <p:cNvPr descr="A group of circles on a black background&#10;&#10;Description automatically generated" id="102" name="Google Shape;102;p14"/>
          <p:cNvPicPr preferRelativeResize="0"/>
          <p:nvPr/>
        </p:nvPicPr>
        <p:blipFill rotWithShape="1">
          <a:blip r:embed="rId4">
            <a:alphaModFix/>
          </a:blip>
          <a:srcRect b="5186" l="0" r="0" t="49590"/>
          <a:stretch/>
        </p:blipFill>
        <p:spPr>
          <a:xfrm>
            <a:off x="2806831" y="4597565"/>
            <a:ext cx="1673257" cy="552202"/>
          </a:xfrm>
          <a:prstGeom prst="rect">
            <a:avLst/>
          </a:prstGeom>
          <a:noFill/>
          <a:ln>
            <a:noFill/>
          </a:ln>
        </p:spPr>
      </p:pic>
      <p:cxnSp>
        <p:nvCxnSpPr>
          <p:cNvPr id="103" name="Google Shape;103;p14"/>
          <p:cNvCxnSpPr/>
          <p:nvPr/>
        </p:nvCxnSpPr>
        <p:spPr>
          <a:xfrm>
            <a:off x="0" y="2570867"/>
            <a:ext cx="2615936" cy="0"/>
          </a:xfrm>
          <a:prstGeom prst="straightConnector1">
            <a:avLst/>
          </a:prstGeom>
          <a:noFill/>
          <a:ln cap="flat" cmpd="sng" w="12700">
            <a:solidFill>
              <a:schemeClr val="lt1"/>
            </a:solidFill>
            <a:prstDash val="solid"/>
            <a:miter lim="800000"/>
            <a:headEnd len="sm" w="sm" type="none"/>
            <a:tailEnd len="sm" w="sm" type="none"/>
          </a:ln>
        </p:spPr>
      </p:cxnSp>
      <p:cxnSp>
        <p:nvCxnSpPr>
          <p:cNvPr id="104" name="Google Shape;104;p14"/>
          <p:cNvCxnSpPr/>
          <p:nvPr/>
        </p:nvCxnSpPr>
        <p:spPr>
          <a:xfrm>
            <a:off x="2615936" y="1952232"/>
            <a:ext cx="1864151" cy="0"/>
          </a:xfrm>
          <a:prstGeom prst="straightConnector1">
            <a:avLst/>
          </a:prstGeom>
          <a:noFill/>
          <a:ln cap="flat" cmpd="sng" w="12700">
            <a:solidFill>
              <a:schemeClr val="lt1"/>
            </a:solidFill>
            <a:prstDash val="solid"/>
            <a:miter lim="800000"/>
            <a:headEnd len="sm" w="sm" type="none"/>
            <a:tailEnd len="sm" w="sm" type="none"/>
          </a:ln>
        </p:spPr>
      </p:cxnSp>
      <p:cxnSp>
        <p:nvCxnSpPr>
          <p:cNvPr id="105" name="Google Shape;105;p14"/>
          <p:cNvCxnSpPr/>
          <p:nvPr/>
        </p:nvCxnSpPr>
        <p:spPr>
          <a:xfrm>
            <a:off x="2615935" y="719091"/>
            <a:ext cx="0" cy="3778314"/>
          </a:xfrm>
          <a:prstGeom prst="straightConnector1">
            <a:avLst/>
          </a:prstGeom>
          <a:noFill/>
          <a:ln cap="flat" cmpd="sng" w="12700">
            <a:solidFill>
              <a:schemeClr val="lt1"/>
            </a:solidFill>
            <a:prstDash val="solid"/>
            <a:miter lim="800000"/>
            <a:headEnd len="sm" w="sm" type="none"/>
            <a:tailEnd len="sm" w="sm" type="none"/>
          </a:ln>
        </p:spPr>
      </p:cxnSp>
      <p:sp>
        <p:nvSpPr>
          <p:cNvPr id="106" name="Google Shape;106;p14"/>
          <p:cNvSpPr/>
          <p:nvPr/>
        </p:nvSpPr>
        <p:spPr>
          <a:xfrm>
            <a:off x="-1" y="0"/>
            <a:ext cx="4531936" cy="183822"/>
          </a:xfrm>
          <a:prstGeom prst="rect">
            <a:avLst/>
          </a:prstGeom>
          <a:solidFill>
            <a:srgbClr val="FFCB0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107" name="Google Shape;107;p14"/>
          <p:cNvCxnSpPr/>
          <p:nvPr/>
        </p:nvCxnSpPr>
        <p:spPr>
          <a:xfrm>
            <a:off x="1322105" y="2577936"/>
            <a:ext cx="0" cy="2016750"/>
          </a:xfrm>
          <a:prstGeom prst="straightConnector1">
            <a:avLst/>
          </a:prstGeom>
          <a:noFill/>
          <a:ln cap="flat" cmpd="sng" w="12700">
            <a:solidFill>
              <a:schemeClr val="lt1"/>
            </a:solidFill>
            <a:prstDash val="solid"/>
            <a:miter lim="800000"/>
            <a:headEnd len="sm" w="sm" type="none"/>
            <a:tailEnd len="sm" w="sm" type="none"/>
          </a:ln>
        </p:spPr>
      </p:cxnSp>
      <p:cxnSp>
        <p:nvCxnSpPr>
          <p:cNvPr id="108" name="Google Shape;108;p14"/>
          <p:cNvCxnSpPr/>
          <p:nvPr/>
        </p:nvCxnSpPr>
        <p:spPr>
          <a:xfrm>
            <a:off x="16669" y="4594685"/>
            <a:ext cx="4480088" cy="0"/>
          </a:xfrm>
          <a:prstGeom prst="straightConnector1">
            <a:avLst/>
          </a:prstGeom>
          <a:noFill/>
          <a:ln cap="flat" cmpd="sng" w="12700">
            <a:solidFill>
              <a:schemeClr val="lt1"/>
            </a:solidFill>
            <a:prstDash val="solid"/>
            <a:miter lim="800000"/>
            <a:headEnd len="sm" w="sm" type="none"/>
            <a:tailEnd len="sm" w="sm" type="none"/>
          </a:ln>
        </p:spPr>
      </p:cxnSp>
      <p:pic>
        <p:nvPicPr>
          <p:cNvPr descr="A yellow letter on a blue background&#10;&#10;Description automatically generated" id="109" name="Google Shape;109;p14"/>
          <p:cNvPicPr preferRelativeResize="0"/>
          <p:nvPr/>
        </p:nvPicPr>
        <p:blipFill rotWithShape="1">
          <a:blip r:embed="rId10">
            <a:alphaModFix/>
          </a:blip>
          <a:srcRect b="0" l="0" r="0" t="0"/>
          <a:stretch/>
        </p:blipFill>
        <p:spPr>
          <a:xfrm>
            <a:off x="1677673" y="3850442"/>
            <a:ext cx="1134698" cy="1095299"/>
          </a:xfrm>
          <a:prstGeom prst="rect">
            <a:avLst/>
          </a:prstGeom>
          <a:noFill/>
          <a:ln>
            <a:noFill/>
          </a:ln>
        </p:spPr>
      </p:pic>
      <p:cxnSp>
        <p:nvCxnSpPr>
          <p:cNvPr id="110" name="Google Shape;110;p14"/>
          <p:cNvCxnSpPr/>
          <p:nvPr/>
        </p:nvCxnSpPr>
        <p:spPr>
          <a:xfrm>
            <a:off x="16669" y="715628"/>
            <a:ext cx="4480088" cy="0"/>
          </a:xfrm>
          <a:prstGeom prst="straightConnector1">
            <a:avLst/>
          </a:prstGeom>
          <a:noFill/>
          <a:ln cap="flat" cmpd="sng" w="12700">
            <a:solidFill>
              <a:schemeClr val="lt1"/>
            </a:solidFill>
            <a:prstDash val="solid"/>
            <a:miter lim="800000"/>
            <a:headEnd len="sm" w="sm" type="none"/>
            <a:tailEnd len="sm" w="sm" type="none"/>
          </a:ln>
        </p:spPr>
      </p:cxnSp>
      <p:sp>
        <p:nvSpPr>
          <p:cNvPr id="111" name="Google Shape;111;p14"/>
          <p:cNvSpPr/>
          <p:nvPr/>
        </p:nvSpPr>
        <p:spPr>
          <a:xfrm rot="-5400000">
            <a:off x="2000251" y="2479839"/>
            <a:ext cx="5143499" cy="183822"/>
          </a:xfrm>
          <a:prstGeom prst="rect">
            <a:avLst/>
          </a:prstGeom>
          <a:solidFill>
            <a:srgbClr val="FFCB0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112" name="Google Shape;112;p14"/>
          <p:cNvPicPr preferRelativeResize="0"/>
          <p:nvPr/>
        </p:nvPicPr>
        <p:blipFill rotWithShape="1">
          <a:blip r:embed="rId11">
            <a:alphaModFix/>
          </a:blip>
          <a:srcRect b="0" l="0" r="0" t="0"/>
          <a:stretch/>
        </p:blipFill>
        <p:spPr>
          <a:xfrm>
            <a:off x="575534" y="321458"/>
            <a:ext cx="3290488" cy="31287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1" type="obj">
  <p:cSld name="OBJECT">
    <p:spTree>
      <p:nvGrpSpPr>
        <p:cNvPr id="113" name="Shape 113"/>
        <p:cNvGrpSpPr/>
        <p:nvPr/>
      </p:nvGrpSpPr>
      <p:grpSpPr>
        <a:xfrm>
          <a:off x="0" y="0"/>
          <a:ext cx="0" cy="0"/>
          <a:chOff x="0" y="0"/>
          <a:chExt cx="0" cy="0"/>
        </a:xfrm>
      </p:grpSpPr>
      <p:sp>
        <p:nvSpPr>
          <p:cNvPr id="114" name="Google Shape;114;p15"/>
          <p:cNvSpPr txBox="1"/>
          <p:nvPr>
            <p:ph type="title"/>
          </p:nvPr>
        </p:nvSpPr>
        <p:spPr>
          <a:xfrm>
            <a:off x="430688" y="437134"/>
            <a:ext cx="7470153" cy="64880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00274C"/>
              </a:buClr>
              <a:buSzPts val="3000"/>
              <a:buFont typeface="Arial"/>
              <a:buNone/>
              <a:defRPr b="1" sz="3000">
                <a:solidFill>
                  <a:srgbClr val="00274C"/>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15"/>
          <p:cNvSpPr txBox="1"/>
          <p:nvPr>
            <p:ph idx="1" type="body"/>
          </p:nvPr>
        </p:nvSpPr>
        <p:spPr>
          <a:xfrm>
            <a:off x="430687" y="1193203"/>
            <a:ext cx="8219587" cy="3674563"/>
          </a:xfrm>
          <a:prstGeom prst="rect">
            <a:avLst/>
          </a:prstGeom>
          <a:noFill/>
          <a:ln>
            <a:noFill/>
          </a:ln>
        </p:spPr>
        <p:txBody>
          <a:bodyPr anchorCtr="0" anchor="t" bIns="34275" lIns="68575" spcFirstLastPara="1" rIns="68575" wrap="square" tIns="34275">
            <a:normAutofit/>
          </a:bodyPr>
          <a:lstStyle>
            <a:lvl1pPr indent="-336550" lvl="0" marL="457200" algn="l">
              <a:lnSpc>
                <a:spcPct val="90000"/>
              </a:lnSpc>
              <a:spcBef>
                <a:spcPts val="800"/>
              </a:spcBef>
              <a:spcAft>
                <a:spcPts val="0"/>
              </a:spcAft>
              <a:buClr>
                <a:schemeClr val="dk1"/>
              </a:buClr>
              <a:buSzPts val="1700"/>
              <a:buFont typeface="Arial"/>
              <a:buChar char="•"/>
              <a:defRPr sz="1700">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15"/>
          <p:cNvSpPr txBox="1"/>
          <p:nvPr>
            <p:ph idx="12" type="sldNum"/>
          </p:nvPr>
        </p:nvSpPr>
        <p:spPr>
          <a:xfrm>
            <a:off x="8650273" y="4910929"/>
            <a:ext cx="309905" cy="232571"/>
          </a:xfrm>
          <a:prstGeom prst="rect">
            <a:avLst/>
          </a:prstGeom>
          <a:noFill/>
          <a:ln>
            <a:noFill/>
          </a:ln>
        </p:spPr>
        <p:txBody>
          <a:bodyPr anchorCtr="0" anchor="ctr" bIns="34275" lIns="68575" spcFirstLastPara="1" rIns="68575" wrap="square" tIns="34275">
            <a:no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sp>
        <p:nvSpPr>
          <p:cNvPr id="117" name="Google Shape;117;p15"/>
          <p:cNvSpPr/>
          <p:nvPr/>
        </p:nvSpPr>
        <p:spPr>
          <a:xfrm rot="-5400000">
            <a:off x="-348758" y="348758"/>
            <a:ext cx="881338" cy="183822"/>
          </a:xfrm>
          <a:prstGeom prst="rect">
            <a:avLst/>
          </a:prstGeom>
          <a:solidFill>
            <a:srgbClr val="FFCB0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18" name="Google Shape;118;p15"/>
          <p:cNvSpPr/>
          <p:nvPr/>
        </p:nvSpPr>
        <p:spPr>
          <a:xfrm rot="10800000">
            <a:off x="-1" y="0"/>
            <a:ext cx="7900842" cy="183822"/>
          </a:xfrm>
          <a:prstGeom prst="rect">
            <a:avLst/>
          </a:prstGeom>
          <a:solidFill>
            <a:srgbClr val="FFCB0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19" name="Google Shape;119;p15"/>
          <p:cNvSpPr/>
          <p:nvPr/>
        </p:nvSpPr>
        <p:spPr>
          <a:xfrm rot="-5400000">
            <a:off x="7064569" y="3088812"/>
            <a:ext cx="3975042" cy="183822"/>
          </a:xfrm>
          <a:prstGeom prst="rect">
            <a:avLst/>
          </a:prstGeom>
          <a:solidFill>
            <a:srgbClr val="FFCB0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descr="A yellow letter on a blue background&#10;&#10;Description automatically generated" id="120" name="Google Shape;120;p15"/>
          <p:cNvPicPr preferRelativeResize="0"/>
          <p:nvPr/>
        </p:nvPicPr>
        <p:blipFill rotWithShape="1">
          <a:blip r:embed="rId2">
            <a:alphaModFix/>
          </a:blip>
          <a:srcRect b="0" l="0" r="0" t="0"/>
          <a:stretch/>
        </p:blipFill>
        <p:spPr>
          <a:xfrm>
            <a:off x="8371274" y="0"/>
            <a:ext cx="772726" cy="74589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83" name="Google Shape;83;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4" name="Google Shape;84;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85" name="Google Shape;85;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86" name="Google Shape;86;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34.png"/><Relationship Id="rId5" Type="http://schemas.openxmlformats.org/officeDocument/2006/relationships/image" Target="../media/image15.png"/><Relationship Id="rId6"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31.png"/><Relationship Id="rId5" Type="http://schemas.openxmlformats.org/officeDocument/2006/relationships/image" Target="../media/image26.png"/><Relationship Id="rId6"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hyperlink" Target="https://github.com/propublica/compas-analysis" TargetMode="External"/><Relationship Id="rId4" Type="http://schemas.openxmlformats.org/officeDocument/2006/relationships/hyperlink" Target="https://github.com/propublica/compas-analysis" TargetMode="External"/><Relationship Id="rId10" Type="http://schemas.openxmlformats.org/officeDocument/2006/relationships/hyperlink" Target="https://s3.documentcloud.org/documents/2840784/Practitioner-s-Guide-to-COMPAS-Core.pdf" TargetMode="External"/><Relationship Id="rId9" Type="http://schemas.openxmlformats.org/officeDocument/2006/relationships/hyperlink" Target="https://s3.documentcloud.org/documents/2840784/Practitioner-s-Guide-to-COMPAS-Core.pdf" TargetMode="External"/><Relationship Id="rId5" Type="http://schemas.openxmlformats.org/officeDocument/2006/relationships/hyperlink" Target="https://csrc.nist.gov/pubs/sp/800/122/final" TargetMode="External"/><Relationship Id="rId6" Type="http://schemas.openxmlformats.org/officeDocument/2006/relationships/hyperlink" Target="https://csrc.nist.gov/pubs/sp/800/122/final" TargetMode="External"/><Relationship Id="rId7" Type="http://schemas.openxmlformats.org/officeDocument/2006/relationships/hyperlink" Target="https://www.federalregister.gov/documents/2024/12/13/2024-28690/protecting-americans-from-harmful-data-broker-practices-regulation-v" TargetMode="External"/><Relationship Id="rId8" Type="http://schemas.openxmlformats.org/officeDocument/2006/relationships/hyperlink" Target="https://www.federalregister.gov/documents/2024/12/13/2024-28690/protecting-americans-from-harmful-data-broker-practices-regulation-v"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txBox="1"/>
          <p:nvPr>
            <p:ph type="ctrTitle"/>
          </p:nvPr>
        </p:nvSpPr>
        <p:spPr>
          <a:xfrm>
            <a:off x="4663900" y="73675"/>
            <a:ext cx="4480200" cy="16170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4000"/>
              <a:buNone/>
            </a:pPr>
            <a:r>
              <a:rPr lang="en" sz="1600"/>
              <a:t>CIS-545-001 / CIS-545-002: Data Security &amp; Privacy</a:t>
            </a:r>
            <a:br>
              <a:rPr lang="en" sz="1600"/>
            </a:br>
            <a:br>
              <a:rPr lang="en" sz="1600"/>
            </a:br>
            <a:r>
              <a:rPr lang="en" sz="1600"/>
              <a:t>Fall 2025</a:t>
            </a:r>
            <a:br>
              <a:rPr lang="en" sz="1600"/>
            </a:br>
            <a:br>
              <a:rPr lang="en" sz="1600"/>
            </a:br>
            <a:r>
              <a:rPr lang="en" sz="1600"/>
              <a:t>Project Presentation</a:t>
            </a:r>
            <a:br>
              <a:rPr lang="en" sz="1600"/>
            </a:br>
            <a:endParaRPr sz="1600"/>
          </a:p>
        </p:txBody>
      </p:sp>
      <p:sp>
        <p:nvSpPr>
          <p:cNvPr id="126" name="Google Shape;126;p16"/>
          <p:cNvSpPr txBox="1"/>
          <p:nvPr>
            <p:ph idx="1" type="subTitle"/>
          </p:nvPr>
        </p:nvSpPr>
        <p:spPr>
          <a:xfrm>
            <a:off x="4747300" y="1607850"/>
            <a:ext cx="4313400" cy="1239600"/>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200"/>
              </a:spcBef>
              <a:spcAft>
                <a:spcPts val="500"/>
              </a:spcAft>
              <a:buClr>
                <a:schemeClr val="dk1"/>
              </a:buClr>
              <a:buSzPts val="1100"/>
              <a:buFont typeface="Arial"/>
              <a:buNone/>
            </a:pPr>
            <a:r>
              <a:rPr lang="en" sz="2400">
                <a:solidFill>
                  <a:schemeClr val="lt1"/>
                </a:solidFill>
              </a:rPr>
              <a:t>Differentially Private Analysis of the COMPAS Dataset</a:t>
            </a:r>
            <a:endParaRPr sz="2900"/>
          </a:p>
        </p:txBody>
      </p:sp>
      <p:sp>
        <p:nvSpPr>
          <p:cNvPr id="127" name="Google Shape;127;p16"/>
          <p:cNvSpPr txBox="1"/>
          <p:nvPr/>
        </p:nvSpPr>
        <p:spPr>
          <a:xfrm>
            <a:off x="4663900" y="2966250"/>
            <a:ext cx="4480200" cy="1964400"/>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rgbClr val="FFCB05"/>
              </a:buClr>
              <a:buSzPts val="1800"/>
              <a:buFont typeface="Arial"/>
              <a:buNone/>
            </a:pPr>
            <a:r>
              <a:rPr b="0" i="0" lang="en" sz="1800" u="none" cap="none" strike="noStrike">
                <a:solidFill>
                  <a:srgbClr val="FFCB05"/>
                </a:solidFill>
                <a:latin typeface="Arial"/>
                <a:ea typeface="Arial"/>
                <a:cs typeface="Arial"/>
                <a:sym typeface="Arial"/>
              </a:rPr>
              <a:t>Group 2:</a:t>
            </a:r>
            <a:endParaRPr b="0" i="0" sz="1800" u="none" cap="none" strike="noStrike">
              <a:solidFill>
                <a:srgbClr val="FFCB05"/>
              </a:solidFill>
              <a:latin typeface="Arial"/>
              <a:ea typeface="Arial"/>
              <a:cs typeface="Arial"/>
              <a:sym typeface="Arial"/>
            </a:endParaRPr>
          </a:p>
          <a:p>
            <a:pPr indent="0" lvl="0" marL="0" rtl="0" algn="ctr">
              <a:spcBef>
                <a:spcPts val="200"/>
              </a:spcBef>
              <a:spcAft>
                <a:spcPts val="0"/>
              </a:spcAft>
              <a:buClr>
                <a:schemeClr val="dk1"/>
              </a:buClr>
              <a:buSzPts val="1100"/>
              <a:buFont typeface="Arial"/>
              <a:buNone/>
            </a:pPr>
            <a:r>
              <a:rPr lang="en" sz="1600">
                <a:solidFill>
                  <a:schemeClr val="lt1"/>
                </a:solidFill>
                <a:latin typeface="Roboto"/>
                <a:ea typeface="Roboto"/>
                <a:cs typeface="Roboto"/>
                <a:sym typeface="Roboto"/>
              </a:rPr>
              <a:t>Anthony Lewis</a:t>
            </a:r>
            <a:endParaRPr sz="1600">
              <a:solidFill>
                <a:schemeClr val="lt1"/>
              </a:solidFill>
              <a:latin typeface="Roboto"/>
              <a:ea typeface="Roboto"/>
              <a:cs typeface="Roboto"/>
              <a:sym typeface="Roboto"/>
            </a:endParaRPr>
          </a:p>
          <a:p>
            <a:pPr indent="0" lvl="0" marL="0" rtl="0" algn="ctr">
              <a:spcBef>
                <a:spcPts val="500"/>
              </a:spcBef>
              <a:spcAft>
                <a:spcPts val="0"/>
              </a:spcAft>
              <a:buClr>
                <a:schemeClr val="dk1"/>
              </a:buClr>
              <a:buSzPts val="1100"/>
              <a:buFont typeface="Arial"/>
              <a:buNone/>
            </a:pPr>
            <a:r>
              <a:rPr lang="en" sz="1600">
                <a:solidFill>
                  <a:schemeClr val="lt1"/>
                </a:solidFill>
                <a:latin typeface="Roboto"/>
                <a:ea typeface="Roboto"/>
                <a:cs typeface="Roboto"/>
                <a:sym typeface="Roboto"/>
              </a:rPr>
              <a:t>Lincoln Badejo</a:t>
            </a:r>
            <a:endParaRPr sz="1600">
              <a:solidFill>
                <a:schemeClr val="lt1"/>
              </a:solidFill>
              <a:latin typeface="Roboto"/>
              <a:ea typeface="Roboto"/>
              <a:cs typeface="Roboto"/>
              <a:sym typeface="Roboto"/>
            </a:endParaRPr>
          </a:p>
          <a:p>
            <a:pPr indent="0" lvl="0" marL="0" rtl="0" algn="ctr">
              <a:spcBef>
                <a:spcPts val="500"/>
              </a:spcBef>
              <a:spcAft>
                <a:spcPts val="0"/>
              </a:spcAft>
              <a:buClr>
                <a:schemeClr val="dk1"/>
              </a:buClr>
              <a:buSzPts val="1100"/>
              <a:buFont typeface="Arial"/>
              <a:buNone/>
            </a:pPr>
            <a:r>
              <a:rPr lang="en" sz="1600">
                <a:solidFill>
                  <a:schemeClr val="lt1"/>
                </a:solidFill>
                <a:latin typeface="Roboto"/>
                <a:ea typeface="Roboto"/>
                <a:cs typeface="Roboto"/>
                <a:sym typeface="Roboto"/>
              </a:rPr>
              <a:t>Margil Funtanilla</a:t>
            </a:r>
            <a:endParaRPr sz="1600">
              <a:solidFill>
                <a:schemeClr val="lt1"/>
              </a:solidFill>
              <a:latin typeface="Roboto"/>
              <a:ea typeface="Roboto"/>
              <a:cs typeface="Roboto"/>
              <a:sym typeface="Roboto"/>
            </a:endParaRPr>
          </a:p>
          <a:p>
            <a:pPr indent="0" lvl="0" marL="0" rtl="0" algn="ctr">
              <a:spcBef>
                <a:spcPts val="500"/>
              </a:spcBef>
              <a:spcAft>
                <a:spcPts val="0"/>
              </a:spcAft>
              <a:buClr>
                <a:schemeClr val="dk1"/>
              </a:buClr>
              <a:buSzPts val="1100"/>
              <a:buFont typeface="Arial"/>
              <a:buNone/>
            </a:pPr>
            <a:r>
              <a:rPr lang="en" sz="1600">
                <a:solidFill>
                  <a:schemeClr val="lt1"/>
                </a:solidFill>
                <a:latin typeface="Roboto"/>
                <a:ea typeface="Roboto"/>
                <a:cs typeface="Roboto"/>
                <a:sym typeface="Roboto"/>
              </a:rPr>
              <a:t>Loren Fang</a:t>
            </a:r>
            <a:endParaRPr sz="1600">
              <a:solidFill>
                <a:schemeClr val="lt1"/>
              </a:solidFill>
              <a:latin typeface="Roboto"/>
              <a:ea typeface="Roboto"/>
              <a:cs typeface="Roboto"/>
              <a:sym typeface="Roboto"/>
            </a:endParaRPr>
          </a:p>
          <a:p>
            <a:pPr indent="0" lvl="0" marL="0" rtl="0" algn="ctr">
              <a:spcBef>
                <a:spcPts val="500"/>
              </a:spcBef>
              <a:spcAft>
                <a:spcPts val="500"/>
              </a:spcAft>
              <a:buClr>
                <a:schemeClr val="dk1"/>
              </a:buClr>
              <a:buSzPts val="1100"/>
              <a:buFont typeface="Arial"/>
              <a:buNone/>
            </a:pPr>
            <a:r>
              <a:rPr lang="en" sz="1600">
                <a:solidFill>
                  <a:schemeClr val="lt1"/>
                </a:solidFill>
                <a:latin typeface="Roboto"/>
                <a:ea typeface="Roboto"/>
                <a:cs typeface="Roboto"/>
                <a:sym typeface="Roboto"/>
              </a:rPr>
              <a:t>Tom Tooma</a:t>
            </a:r>
            <a:endParaRPr sz="2000">
              <a:solidFill>
                <a:srgbClr val="FFCB05"/>
              </a:solidFill>
            </a:endParaRPr>
          </a:p>
        </p:txBody>
      </p:sp>
      <p:sp>
        <p:nvSpPr>
          <p:cNvPr id="128" name="Google Shape;128;p16"/>
          <p:cNvSpPr/>
          <p:nvPr/>
        </p:nvSpPr>
        <p:spPr>
          <a:xfrm>
            <a:off x="0" y="191386"/>
            <a:ext cx="4480088" cy="520995"/>
          </a:xfrm>
          <a:prstGeom prst="rect">
            <a:avLst/>
          </a:prstGeom>
          <a:solidFill>
            <a:srgbClr val="1F3864"/>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7"/>
          <p:cNvSpPr txBox="1"/>
          <p:nvPr>
            <p:ph type="title"/>
          </p:nvPr>
        </p:nvSpPr>
        <p:spPr>
          <a:xfrm>
            <a:off x="430663" y="292934"/>
            <a:ext cx="7470300" cy="648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Introduction</a:t>
            </a:r>
            <a:endParaRPr/>
          </a:p>
        </p:txBody>
      </p:sp>
      <p:sp>
        <p:nvSpPr>
          <p:cNvPr id="134" name="Google Shape;134;p17"/>
          <p:cNvSpPr txBox="1"/>
          <p:nvPr>
            <p:ph idx="1" type="body"/>
          </p:nvPr>
        </p:nvSpPr>
        <p:spPr>
          <a:xfrm>
            <a:off x="430675" y="1109000"/>
            <a:ext cx="8219700" cy="3980100"/>
          </a:xfrm>
          <a:prstGeom prst="rect">
            <a:avLst/>
          </a:prstGeom>
        </p:spPr>
        <p:txBody>
          <a:bodyPr anchorCtr="0" anchor="t" bIns="34275" lIns="68575" spcFirstLastPara="1" rIns="68575" wrap="square" tIns="34275">
            <a:noAutofit/>
          </a:bodyPr>
          <a:lstStyle/>
          <a:p>
            <a:pPr indent="-323850" lvl="0" marL="457200" rtl="0" algn="l">
              <a:lnSpc>
                <a:spcPct val="100000"/>
              </a:lnSpc>
              <a:spcBef>
                <a:spcPts val="1200"/>
              </a:spcBef>
              <a:spcAft>
                <a:spcPts val="0"/>
              </a:spcAft>
              <a:buSzPts val="1500"/>
              <a:buChar char="●"/>
            </a:pPr>
            <a:r>
              <a:rPr lang="en" sz="1500"/>
              <a:t>Differential privacy (DP) is a leading framework for protecting sensitive data by adding carefully calibrated randomness to the mechanism that produces the outputs, such as statistics or model predictions, so individuals cannot be uniquely identified, while preserving overall data usefulness.</a:t>
            </a:r>
            <a:endParaRPr sz="1500"/>
          </a:p>
          <a:p>
            <a:pPr indent="-323850" lvl="0" marL="457200" rtl="0" algn="l">
              <a:lnSpc>
                <a:spcPct val="100000"/>
              </a:lnSpc>
              <a:spcBef>
                <a:spcPts val="1000"/>
              </a:spcBef>
              <a:spcAft>
                <a:spcPts val="0"/>
              </a:spcAft>
              <a:buSzPts val="1500"/>
              <a:buChar char="●"/>
            </a:pPr>
            <a:r>
              <a:rPr lang="en" sz="1500"/>
              <a:t>In practice, DP is challenging to implement, privacy budgets (ε), mechanism choices, and privacy-utility trade-offs are often unclear.</a:t>
            </a:r>
            <a:endParaRPr sz="1500"/>
          </a:p>
          <a:p>
            <a:pPr indent="-323850" lvl="0" marL="457200" rtl="0" algn="l">
              <a:lnSpc>
                <a:spcPct val="100000"/>
              </a:lnSpc>
              <a:spcBef>
                <a:spcPts val="1000"/>
              </a:spcBef>
              <a:spcAft>
                <a:spcPts val="0"/>
              </a:spcAft>
              <a:buSzPts val="1500"/>
              <a:buChar char="●"/>
            </a:pPr>
            <a:r>
              <a:rPr lang="en" sz="1500"/>
              <a:t>These challenges matter most in high-stakes domains like criminal justice, where datasets such as </a:t>
            </a:r>
            <a:r>
              <a:rPr lang="en" sz="1500"/>
              <a:t>Correctional Offender Management Profiling for Alternative Sanctions (</a:t>
            </a:r>
            <a:r>
              <a:rPr lang="en" sz="1500"/>
              <a:t>COMPAS) contain highly sensitive personal information, and improper handling threatens privacy, fairness, and potential re-identification. Yet these datasets are routinely used for research and policy analysis.</a:t>
            </a:r>
            <a:endParaRPr sz="1500"/>
          </a:p>
          <a:p>
            <a:pPr indent="-323850" lvl="0" marL="457200" rtl="0" algn="l">
              <a:lnSpc>
                <a:spcPct val="100000"/>
              </a:lnSpc>
              <a:spcBef>
                <a:spcPts val="1200"/>
              </a:spcBef>
              <a:spcAft>
                <a:spcPts val="1000"/>
              </a:spcAft>
              <a:buSzPts val="1500"/>
              <a:buChar char="●"/>
            </a:pPr>
            <a:r>
              <a:rPr lang="en" sz="1500"/>
              <a:t>This project uses the COMPAS dataset as a case study to demonstrate differential privacy in action. We apply DP mechanisms to common analytical tasks, such as statistical queries, to examine how privacy-preserving noise affects both privacy (ε) and data utility.</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txBox="1"/>
          <p:nvPr>
            <p:ph type="title"/>
          </p:nvPr>
        </p:nvSpPr>
        <p:spPr>
          <a:xfrm>
            <a:off x="440313" y="235234"/>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a:t>Project Objectives</a:t>
            </a:r>
            <a:endParaRPr/>
          </a:p>
        </p:txBody>
      </p:sp>
      <p:sp>
        <p:nvSpPr>
          <p:cNvPr id="140" name="Google Shape;140;p18"/>
          <p:cNvSpPr txBox="1"/>
          <p:nvPr>
            <p:ph idx="1" type="body"/>
          </p:nvPr>
        </p:nvSpPr>
        <p:spPr>
          <a:xfrm>
            <a:off x="285550" y="1287555"/>
            <a:ext cx="8219700" cy="337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 sz="1400"/>
              <a:t>The main objective of the project is to d</a:t>
            </a:r>
            <a:r>
              <a:rPr lang="en" sz="1400"/>
              <a:t>emonstrate how differential privacy (DP) can be applied in real-world settings using the COMPAS dataset as a case study. Specifically,</a:t>
            </a:r>
            <a:br>
              <a:rPr lang="en" sz="1400"/>
            </a:br>
            <a:endParaRPr sz="1400"/>
          </a:p>
          <a:p>
            <a:pPr indent="-317500" lvl="0" marL="457200" rtl="0" algn="l">
              <a:lnSpc>
                <a:spcPct val="100000"/>
              </a:lnSpc>
              <a:spcBef>
                <a:spcPts val="0"/>
              </a:spcBef>
              <a:spcAft>
                <a:spcPts val="0"/>
              </a:spcAft>
              <a:buClr>
                <a:schemeClr val="dk1"/>
              </a:buClr>
              <a:buSzPts val="1400"/>
              <a:buChar char="●"/>
            </a:pPr>
            <a:r>
              <a:rPr lang="en" sz="1400"/>
              <a:t>Explore a variety of queries to identify the most valuable insights from the dataset;</a:t>
            </a:r>
            <a:endParaRPr sz="1400"/>
          </a:p>
          <a:p>
            <a:pPr indent="0" lvl="0" marL="457200" rtl="0" algn="l">
              <a:lnSpc>
                <a:spcPct val="100000"/>
              </a:lnSpc>
              <a:spcBef>
                <a:spcPts val="0"/>
              </a:spcBef>
              <a:spcAft>
                <a:spcPts val="0"/>
              </a:spcAft>
              <a:buNone/>
            </a:pPr>
            <a:r>
              <a:t/>
            </a:r>
            <a:endParaRPr sz="1400"/>
          </a:p>
          <a:p>
            <a:pPr indent="-317500" lvl="0" marL="457200" rtl="0" algn="l">
              <a:lnSpc>
                <a:spcPct val="100000"/>
              </a:lnSpc>
              <a:spcBef>
                <a:spcPts val="0"/>
              </a:spcBef>
              <a:spcAft>
                <a:spcPts val="0"/>
              </a:spcAft>
              <a:buClr>
                <a:schemeClr val="dk1"/>
              </a:buClr>
              <a:buSzPts val="1400"/>
              <a:buChar char="●"/>
            </a:pPr>
            <a:r>
              <a:rPr lang="en" sz="1400"/>
              <a:t>Apply DP noise (Laplace and Gaussian mechanisms) to key statistical queries to evaluate their impact on privacy and utility;</a:t>
            </a:r>
            <a:br>
              <a:rPr lang="en" sz="1400"/>
            </a:br>
            <a:endParaRPr sz="1400"/>
          </a:p>
          <a:p>
            <a:pPr indent="-317500" lvl="0" marL="457200" rtl="0" algn="l">
              <a:lnSpc>
                <a:spcPct val="100000"/>
              </a:lnSpc>
              <a:spcBef>
                <a:spcPts val="0"/>
              </a:spcBef>
              <a:spcAft>
                <a:spcPts val="0"/>
              </a:spcAft>
              <a:buClr>
                <a:srgbClr val="000000"/>
              </a:buClr>
              <a:buSzPts val="1400"/>
              <a:buChar char="●"/>
            </a:pPr>
            <a:r>
              <a:rPr lang="en" sz="1400"/>
              <a:t>Implement visualizations that effectively represent the COMPAS dataset and facilitate comparison of DP mechanisms; and</a:t>
            </a:r>
            <a:endParaRPr sz="1400"/>
          </a:p>
          <a:p>
            <a:pPr indent="0" lvl="0" marL="457200" rtl="0" algn="l">
              <a:lnSpc>
                <a:spcPct val="100000"/>
              </a:lnSpc>
              <a:spcBef>
                <a:spcPts val="0"/>
              </a:spcBef>
              <a:spcAft>
                <a:spcPts val="0"/>
              </a:spcAft>
              <a:buNone/>
            </a:pPr>
            <a:r>
              <a:t/>
            </a:r>
            <a:endParaRPr sz="1400"/>
          </a:p>
          <a:p>
            <a:pPr indent="-317500" lvl="0" marL="457200" rtl="0" algn="l">
              <a:lnSpc>
                <a:spcPct val="100000"/>
              </a:lnSpc>
              <a:spcBef>
                <a:spcPts val="0"/>
              </a:spcBef>
              <a:spcAft>
                <a:spcPts val="0"/>
              </a:spcAft>
              <a:buClr>
                <a:schemeClr val="dk1"/>
              </a:buClr>
              <a:buSzPts val="1400"/>
              <a:buChar char="●"/>
            </a:pPr>
            <a:r>
              <a:rPr lang="en" sz="1400"/>
              <a:t>Show that strong privacy guarantees can be achieved without sacrificing interpretability.</a:t>
            </a:r>
            <a:endParaRPr sz="1400"/>
          </a:p>
          <a:p>
            <a:pPr indent="0" lvl="0" marL="457200" rtl="0" algn="l">
              <a:lnSpc>
                <a:spcPct val="100000"/>
              </a:lnSpc>
              <a:spcBef>
                <a:spcPts val="0"/>
              </a:spcBef>
              <a:spcAft>
                <a:spcPts val="0"/>
              </a:spcAft>
              <a:buNone/>
            </a:pPr>
            <a:r>
              <a:t/>
            </a:r>
            <a:endParaRPr sz="1400"/>
          </a:p>
          <a:p>
            <a:pPr indent="0" lvl="0" marL="457200" rtl="0" algn="l">
              <a:lnSpc>
                <a:spcPct val="100000"/>
              </a:lnSpc>
              <a:spcBef>
                <a:spcPts val="0"/>
              </a:spcBef>
              <a:spcAft>
                <a:spcPts val="0"/>
              </a:spcAft>
              <a:buNone/>
            </a:pPr>
            <a:r>
              <a:t/>
            </a:r>
            <a:endParaRPr sz="1400">
              <a:latin typeface="Calibri"/>
              <a:ea typeface="Calibri"/>
              <a:cs typeface="Calibri"/>
              <a:sym typeface="Calibri"/>
            </a:endParaRPr>
          </a:p>
          <a:p>
            <a:pPr indent="-63500" lvl="0" marL="171450" rtl="0" algn="l">
              <a:lnSpc>
                <a:spcPct val="107000"/>
              </a:lnSpc>
              <a:spcBef>
                <a:spcPts val="0"/>
              </a:spcBef>
              <a:spcAft>
                <a:spcPts val="0"/>
              </a:spcAft>
              <a:buSzPts val="1700"/>
              <a:buFont typeface="Noto Sans Symbols"/>
              <a:buNone/>
            </a:pPr>
            <a:r>
              <a:t/>
            </a:r>
            <a:endParaRPr sz="14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344163" y="177559"/>
            <a:ext cx="7470300" cy="648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Differential</a:t>
            </a:r>
            <a:r>
              <a:rPr lang="en"/>
              <a:t> Privacy Framework</a:t>
            </a:r>
            <a:endParaRPr/>
          </a:p>
        </p:txBody>
      </p:sp>
      <p:sp>
        <p:nvSpPr>
          <p:cNvPr id="146" name="Google Shape;146;p19"/>
          <p:cNvSpPr txBox="1"/>
          <p:nvPr>
            <p:ph idx="1" type="body"/>
          </p:nvPr>
        </p:nvSpPr>
        <p:spPr>
          <a:xfrm>
            <a:off x="430675" y="826450"/>
            <a:ext cx="8219700" cy="4253100"/>
          </a:xfrm>
          <a:prstGeom prst="rect">
            <a:avLst/>
          </a:prstGeom>
        </p:spPr>
        <p:txBody>
          <a:bodyPr anchorCtr="0" anchor="t" bIns="34275" lIns="68575" spcFirstLastPara="1" rIns="68575" wrap="square" tIns="34275">
            <a:noAutofit/>
          </a:bodyPr>
          <a:lstStyle/>
          <a:p>
            <a:pPr indent="-304800" lvl="0" marL="457200" rtl="0" algn="l">
              <a:lnSpc>
                <a:spcPct val="80000"/>
              </a:lnSpc>
              <a:spcBef>
                <a:spcPts val="800"/>
              </a:spcBef>
              <a:spcAft>
                <a:spcPts val="0"/>
              </a:spcAft>
              <a:buSzPts val="1200"/>
              <a:buChar char="●"/>
            </a:pPr>
            <a:r>
              <a:rPr b="1" lang="en" sz="1200"/>
              <a:t>Intuition:</a:t>
            </a:r>
            <a:r>
              <a:rPr lang="en" sz="1200"/>
              <a:t> Differential privacy (DP) protects individuals by ensuring that the output of a mechanism </a:t>
            </a:r>
            <a:r>
              <a:rPr i="1" lang="en" sz="1200"/>
              <a:t>M</a:t>
            </a:r>
            <a:r>
              <a:rPr lang="en" sz="1200"/>
              <a:t> is nearly the same whether or not any single record is included.</a:t>
            </a:r>
            <a:endParaRPr sz="1200"/>
          </a:p>
          <a:p>
            <a:pPr indent="-304800" lvl="0" marL="457200" rtl="0" algn="l">
              <a:lnSpc>
                <a:spcPct val="105000"/>
              </a:lnSpc>
              <a:spcBef>
                <a:spcPts val="1000"/>
              </a:spcBef>
              <a:spcAft>
                <a:spcPts val="0"/>
              </a:spcAft>
              <a:buSzPts val="1200"/>
              <a:buChar char="●"/>
            </a:pPr>
            <a:r>
              <a:rPr b="1" lang="en" sz="1200"/>
              <a:t>Definition:</a:t>
            </a:r>
            <a:r>
              <a:rPr lang="en" sz="1200"/>
              <a:t> A randomized mechanism </a:t>
            </a:r>
            <a:r>
              <a:rPr i="1" lang="en" sz="1200"/>
              <a:t>M</a:t>
            </a:r>
            <a:r>
              <a:rPr lang="en" sz="1200"/>
              <a:t> (e.g., a set of </a:t>
            </a:r>
            <a:r>
              <a:rPr lang="en" sz="1200"/>
              <a:t>queries</a:t>
            </a:r>
            <a:r>
              <a:rPr lang="en" sz="1200"/>
              <a:t>) satisfies (ϵ,δ)-DP if outputs for neighboring datasets </a:t>
            </a:r>
            <a:r>
              <a:rPr i="1" lang="en" sz="1200"/>
              <a:t>d1</a:t>
            </a:r>
            <a:r>
              <a:rPr lang="en" sz="1200"/>
              <a:t>, ​</a:t>
            </a:r>
            <a:r>
              <a:rPr i="1" lang="en" sz="1200"/>
              <a:t>d2</a:t>
            </a:r>
            <a:r>
              <a:rPr lang="en" sz="1200"/>
              <a:t>​ are indistinguishable:</a:t>
            </a:r>
            <a:endParaRPr sz="1200"/>
          </a:p>
          <a:p>
            <a:pPr indent="0" lvl="0" marL="457200" rtl="0" algn="l">
              <a:lnSpc>
                <a:spcPct val="105000"/>
              </a:lnSpc>
              <a:spcBef>
                <a:spcPts val="1200"/>
              </a:spcBef>
              <a:spcAft>
                <a:spcPts val="0"/>
              </a:spcAft>
              <a:buNone/>
            </a:pPr>
            <a:r>
              <a:t/>
            </a:r>
            <a:endParaRPr sz="1200"/>
          </a:p>
          <a:p>
            <a:pPr indent="-304800" lvl="0" marL="457200" rtl="0" algn="l">
              <a:lnSpc>
                <a:spcPct val="105000"/>
              </a:lnSpc>
              <a:spcBef>
                <a:spcPts val="1200"/>
              </a:spcBef>
              <a:spcAft>
                <a:spcPts val="0"/>
              </a:spcAft>
              <a:buSzPts val="1200"/>
              <a:buChar char="●"/>
            </a:pPr>
            <a:r>
              <a:rPr b="1" lang="en" sz="1200"/>
              <a:t>Key Parameters:</a:t>
            </a:r>
            <a:endParaRPr b="1" sz="1200"/>
          </a:p>
          <a:p>
            <a:pPr indent="-304800" lvl="1" marL="914400" rtl="0" algn="l">
              <a:lnSpc>
                <a:spcPct val="105000"/>
              </a:lnSpc>
              <a:spcBef>
                <a:spcPts val="0"/>
              </a:spcBef>
              <a:spcAft>
                <a:spcPts val="0"/>
              </a:spcAft>
              <a:buSzPts val="1200"/>
              <a:buChar char="○"/>
            </a:pPr>
            <a:r>
              <a:rPr b="1" lang="en" sz="1200"/>
              <a:t>ε (Privacy budget):</a:t>
            </a:r>
            <a:r>
              <a:rPr lang="en" sz="1200"/>
              <a:t> Smaller → stronger privacy, less utility</a:t>
            </a:r>
            <a:br>
              <a:rPr lang="en" sz="1200"/>
            </a:br>
            <a:endParaRPr sz="1200"/>
          </a:p>
          <a:p>
            <a:pPr indent="-304800" lvl="1" marL="914400" rtl="0" algn="l">
              <a:lnSpc>
                <a:spcPct val="105000"/>
              </a:lnSpc>
              <a:spcBef>
                <a:spcPts val="0"/>
              </a:spcBef>
              <a:spcAft>
                <a:spcPts val="0"/>
              </a:spcAft>
              <a:buSzPts val="1200"/>
              <a:buChar char="○"/>
            </a:pPr>
            <a:r>
              <a:rPr b="1" lang="en" sz="1200"/>
              <a:t>δ (Failure probability):</a:t>
            </a:r>
            <a:r>
              <a:rPr lang="en" sz="1200"/>
              <a:t> Small chance DP guarantee fails; δ = 0 → pure DP</a:t>
            </a:r>
            <a:br>
              <a:rPr lang="en" sz="1200"/>
            </a:br>
            <a:endParaRPr sz="1200"/>
          </a:p>
          <a:p>
            <a:pPr indent="-304800" lvl="0" marL="457200" rtl="0" algn="l">
              <a:lnSpc>
                <a:spcPct val="105000"/>
              </a:lnSpc>
              <a:spcBef>
                <a:spcPts val="0"/>
              </a:spcBef>
              <a:spcAft>
                <a:spcPts val="0"/>
              </a:spcAft>
              <a:buSzPts val="1200"/>
              <a:buChar char="●"/>
            </a:pPr>
            <a:r>
              <a:rPr b="1" lang="en" sz="1200"/>
              <a:t>Mechanisms Implemented:</a:t>
            </a:r>
            <a:br>
              <a:rPr b="1" lang="en" sz="1200"/>
            </a:br>
            <a:endParaRPr b="1" sz="1200"/>
          </a:p>
          <a:p>
            <a:pPr indent="-304800" lvl="1" marL="914400" rtl="0" algn="l">
              <a:lnSpc>
                <a:spcPct val="100000"/>
              </a:lnSpc>
              <a:spcBef>
                <a:spcPts val="0"/>
              </a:spcBef>
              <a:spcAft>
                <a:spcPts val="0"/>
              </a:spcAft>
              <a:buSzPts val="1200"/>
              <a:buChar char="○"/>
            </a:pPr>
            <a:r>
              <a:rPr b="1" lang="en" sz="1200"/>
              <a:t>Laplace:</a:t>
            </a:r>
            <a:r>
              <a:rPr lang="en" sz="1200"/>
              <a:t> </a:t>
            </a:r>
            <a:endParaRPr sz="1200"/>
          </a:p>
          <a:p>
            <a:pPr indent="-304800" lvl="1" marL="914400" rtl="0" algn="l">
              <a:lnSpc>
                <a:spcPct val="105000"/>
              </a:lnSpc>
              <a:spcBef>
                <a:spcPts val="1000"/>
              </a:spcBef>
              <a:spcAft>
                <a:spcPts val="0"/>
              </a:spcAft>
              <a:buSzPts val="1200"/>
              <a:buChar char="○"/>
            </a:pPr>
            <a:r>
              <a:rPr b="1" lang="en" sz="1200"/>
              <a:t>Gaussian:</a:t>
            </a:r>
            <a:r>
              <a:rPr lang="en" sz="1200"/>
              <a:t> </a:t>
            </a:r>
            <a:endParaRPr sz="1200"/>
          </a:p>
          <a:p>
            <a:pPr indent="0" lvl="0" marL="457200" rtl="0" algn="l">
              <a:lnSpc>
                <a:spcPct val="105000"/>
              </a:lnSpc>
              <a:spcBef>
                <a:spcPts val="1200"/>
              </a:spcBef>
              <a:spcAft>
                <a:spcPts val="0"/>
              </a:spcAft>
              <a:buNone/>
            </a:pPr>
            <a:r>
              <a:t/>
            </a:r>
            <a:endParaRPr b="1" sz="1200"/>
          </a:p>
          <a:p>
            <a:pPr indent="-304800" lvl="0" marL="457200" rtl="0" algn="l">
              <a:lnSpc>
                <a:spcPct val="105000"/>
              </a:lnSpc>
              <a:spcBef>
                <a:spcPts val="1200"/>
              </a:spcBef>
              <a:spcAft>
                <a:spcPts val="0"/>
              </a:spcAft>
              <a:buSzPts val="1200"/>
              <a:buChar char="●"/>
            </a:pPr>
            <a:r>
              <a:rPr b="1" lang="en" sz="1200"/>
              <a:t>Sensitivity (Δf):</a:t>
            </a:r>
            <a:r>
              <a:rPr lang="en" sz="1200"/>
              <a:t> Maximum impact of one record on query output (Δf = 1 for counts)</a:t>
            </a:r>
            <a:br>
              <a:rPr lang="en" sz="1200"/>
            </a:br>
            <a:endParaRPr sz="1200"/>
          </a:p>
          <a:p>
            <a:pPr indent="-304800" lvl="0" marL="457200" rtl="0" algn="l">
              <a:lnSpc>
                <a:spcPct val="105000"/>
              </a:lnSpc>
              <a:spcBef>
                <a:spcPts val="0"/>
              </a:spcBef>
              <a:spcAft>
                <a:spcPts val="0"/>
              </a:spcAft>
              <a:buSzPts val="1200"/>
              <a:buChar char="●"/>
            </a:pPr>
            <a:r>
              <a:rPr b="1" lang="en" sz="1200"/>
              <a:t>Project Goal:</a:t>
            </a:r>
            <a:r>
              <a:rPr lang="en" sz="1200"/>
              <a:t> Add noise to queries to maximize privacy while preserving interpretability and utility</a:t>
            </a:r>
            <a:endParaRPr sz="1200"/>
          </a:p>
        </p:txBody>
      </p:sp>
      <p:pic>
        <p:nvPicPr>
          <p:cNvPr id="147" name="Google Shape;147;p19"/>
          <p:cNvPicPr preferRelativeResize="0"/>
          <p:nvPr/>
        </p:nvPicPr>
        <p:blipFill>
          <a:blip r:embed="rId3">
            <a:alphaModFix/>
          </a:blip>
          <a:stretch>
            <a:fillRect/>
          </a:stretch>
        </p:blipFill>
        <p:spPr>
          <a:xfrm>
            <a:off x="3171225" y="1806000"/>
            <a:ext cx="2657475" cy="209550"/>
          </a:xfrm>
          <a:prstGeom prst="rect">
            <a:avLst/>
          </a:prstGeom>
          <a:noFill/>
          <a:ln>
            <a:noFill/>
          </a:ln>
        </p:spPr>
      </p:pic>
      <p:pic>
        <p:nvPicPr>
          <p:cNvPr id="148" name="Google Shape;148;p19"/>
          <p:cNvPicPr preferRelativeResize="0"/>
          <p:nvPr/>
        </p:nvPicPr>
        <p:blipFill>
          <a:blip r:embed="rId4">
            <a:alphaModFix/>
          </a:blip>
          <a:stretch>
            <a:fillRect/>
          </a:stretch>
        </p:blipFill>
        <p:spPr>
          <a:xfrm>
            <a:off x="2142525" y="3401925"/>
            <a:ext cx="1552575" cy="342900"/>
          </a:xfrm>
          <a:prstGeom prst="rect">
            <a:avLst/>
          </a:prstGeom>
          <a:noFill/>
          <a:ln>
            <a:noFill/>
          </a:ln>
        </p:spPr>
      </p:pic>
      <p:pic>
        <p:nvPicPr>
          <p:cNvPr id="149" name="Google Shape;149;p19"/>
          <p:cNvPicPr preferRelativeResize="0"/>
          <p:nvPr/>
        </p:nvPicPr>
        <p:blipFill>
          <a:blip r:embed="rId5">
            <a:alphaModFix/>
          </a:blip>
          <a:stretch>
            <a:fillRect/>
          </a:stretch>
        </p:blipFill>
        <p:spPr>
          <a:xfrm>
            <a:off x="2325200" y="3744825"/>
            <a:ext cx="2133600" cy="571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363413" y="283309"/>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sz="3200"/>
              <a:t>Design: Tools and Approach</a:t>
            </a:r>
            <a:endParaRPr/>
          </a:p>
        </p:txBody>
      </p:sp>
      <p:sp>
        <p:nvSpPr>
          <p:cNvPr id="155" name="Google Shape;155;p20"/>
          <p:cNvSpPr txBox="1"/>
          <p:nvPr>
            <p:ph idx="1" type="body"/>
          </p:nvPr>
        </p:nvSpPr>
        <p:spPr>
          <a:xfrm>
            <a:off x="302456" y="932209"/>
            <a:ext cx="8219700" cy="38361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0"/>
              </a:spcBef>
              <a:spcAft>
                <a:spcPts val="0"/>
              </a:spcAft>
              <a:buSzPts val="1600"/>
              <a:buFont typeface="Arial"/>
              <a:buChar char="•"/>
            </a:pPr>
            <a:r>
              <a:rPr lang="en" sz="1600"/>
              <a:t>Programming Language used: Python</a:t>
            </a:r>
            <a:endParaRPr sz="1600"/>
          </a:p>
          <a:p>
            <a:pPr indent="0" lvl="0" marL="457200" rtl="0" algn="l">
              <a:lnSpc>
                <a:spcPct val="115000"/>
              </a:lnSpc>
              <a:spcBef>
                <a:spcPts val="0"/>
              </a:spcBef>
              <a:spcAft>
                <a:spcPts val="0"/>
              </a:spcAft>
              <a:buNone/>
            </a:pPr>
            <a:r>
              <a:t/>
            </a:r>
            <a:endParaRPr sz="1600"/>
          </a:p>
          <a:p>
            <a:pPr indent="-330200" lvl="0" marL="457200" rtl="0" algn="l">
              <a:lnSpc>
                <a:spcPct val="115000"/>
              </a:lnSpc>
              <a:spcBef>
                <a:spcPts val="0"/>
              </a:spcBef>
              <a:spcAft>
                <a:spcPts val="0"/>
              </a:spcAft>
              <a:buSzPts val="1600"/>
              <a:buChar char="•"/>
            </a:pPr>
            <a:r>
              <a:rPr lang="en" sz="1600"/>
              <a:t>Libraries utilized:</a:t>
            </a:r>
            <a:endParaRPr sz="1600"/>
          </a:p>
          <a:p>
            <a:pPr indent="-330200" lvl="1" marL="914400" rtl="0" algn="l">
              <a:lnSpc>
                <a:spcPct val="115000"/>
              </a:lnSpc>
              <a:spcBef>
                <a:spcPts val="0"/>
              </a:spcBef>
              <a:spcAft>
                <a:spcPts val="0"/>
              </a:spcAft>
              <a:buSzPts val="1600"/>
              <a:buChar char="•"/>
            </a:pPr>
            <a:r>
              <a:rPr lang="en" sz="1600"/>
              <a:t>n</a:t>
            </a:r>
            <a:r>
              <a:rPr lang="en" sz="1600"/>
              <a:t>umpy</a:t>
            </a:r>
            <a:endParaRPr sz="1600"/>
          </a:p>
          <a:p>
            <a:pPr indent="-330200" lvl="1" marL="914400" rtl="0" algn="l">
              <a:lnSpc>
                <a:spcPct val="115000"/>
              </a:lnSpc>
              <a:spcBef>
                <a:spcPts val="0"/>
              </a:spcBef>
              <a:spcAft>
                <a:spcPts val="0"/>
              </a:spcAft>
              <a:buSzPts val="1600"/>
              <a:buChar char="•"/>
            </a:pPr>
            <a:r>
              <a:rPr lang="en" sz="1600"/>
              <a:t>p</a:t>
            </a:r>
            <a:r>
              <a:rPr lang="en" sz="1600"/>
              <a:t>andas</a:t>
            </a:r>
            <a:endParaRPr sz="1600"/>
          </a:p>
          <a:p>
            <a:pPr indent="-330200" lvl="1" marL="914400" rtl="0" algn="l">
              <a:lnSpc>
                <a:spcPct val="115000"/>
              </a:lnSpc>
              <a:spcBef>
                <a:spcPts val="0"/>
              </a:spcBef>
              <a:spcAft>
                <a:spcPts val="0"/>
              </a:spcAft>
              <a:buSzPts val="1600"/>
              <a:buChar char="•"/>
            </a:pPr>
            <a:r>
              <a:rPr lang="en" sz="1600"/>
              <a:t>m</a:t>
            </a:r>
            <a:r>
              <a:rPr lang="en" sz="1600"/>
              <a:t>atplotlib.pyplot</a:t>
            </a:r>
            <a:endParaRPr sz="1600"/>
          </a:p>
          <a:p>
            <a:pPr indent="0" lvl="0" marL="0" rtl="0" algn="l">
              <a:lnSpc>
                <a:spcPct val="115000"/>
              </a:lnSpc>
              <a:spcBef>
                <a:spcPts val="0"/>
              </a:spcBef>
              <a:spcAft>
                <a:spcPts val="0"/>
              </a:spcAft>
              <a:buNone/>
            </a:pPr>
            <a:r>
              <a:t/>
            </a:r>
            <a:endParaRPr sz="1600"/>
          </a:p>
          <a:p>
            <a:pPr indent="-330200" lvl="0" marL="457200" rtl="0" algn="l">
              <a:lnSpc>
                <a:spcPct val="115000"/>
              </a:lnSpc>
              <a:spcBef>
                <a:spcPts val="0"/>
              </a:spcBef>
              <a:spcAft>
                <a:spcPts val="0"/>
              </a:spcAft>
              <a:buSzPts val="1600"/>
              <a:buChar char="•"/>
            </a:pPr>
            <a:r>
              <a:rPr lang="en" sz="1600"/>
              <a:t>Utilized the Jupyter Notebook coding platform.</a:t>
            </a:r>
            <a:endParaRPr sz="1600"/>
          </a:p>
          <a:p>
            <a:pPr indent="0" lvl="0" marL="0" rtl="0" algn="l">
              <a:lnSpc>
                <a:spcPct val="115000"/>
              </a:lnSpc>
              <a:spcBef>
                <a:spcPts val="0"/>
              </a:spcBef>
              <a:spcAft>
                <a:spcPts val="0"/>
              </a:spcAft>
              <a:buNone/>
            </a:pPr>
            <a:r>
              <a:t/>
            </a:r>
            <a:endParaRPr sz="1600"/>
          </a:p>
          <a:p>
            <a:pPr indent="-330200" lvl="0" marL="457200" rtl="0" algn="l">
              <a:lnSpc>
                <a:spcPct val="115000"/>
              </a:lnSpc>
              <a:spcBef>
                <a:spcPts val="0"/>
              </a:spcBef>
              <a:spcAft>
                <a:spcPts val="0"/>
              </a:spcAft>
              <a:buSzPts val="1600"/>
              <a:buChar char="•"/>
            </a:pPr>
            <a:r>
              <a:rPr lang="en" sz="1600"/>
              <a:t>Google Drive to store project files.</a:t>
            </a:r>
            <a:endParaRPr sz="1600"/>
          </a:p>
          <a:p>
            <a:pPr indent="0" lvl="0" marL="457200" rtl="0" algn="l">
              <a:lnSpc>
                <a:spcPct val="115000"/>
              </a:lnSpc>
              <a:spcBef>
                <a:spcPts val="0"/>
              </a:spcBef>
              <a:spcAft>
                <a:spcPts val="0"/>
              </a:spcAft>
              <a:buNone/>
            </a:pPr>
            <a:r>
              <a:t/>
            </a:r>
            <a:endParaRPr sz="1600"/>
          </a:p>
          <a:p>
            <a:pPr indent="-330200" lvl="0" marL="457200" rtl="0" algn="l">
              <a:lnSpc>
                <a:spcPct val="115000"/>
              </a:lnSpc>
              <a:spcBef>
                <a:spcPts val="0"/>
              </a:spcBef>
              <a:spcAft>
                <a:spcPts val="0"/>
              </a:spcAft>
              <a:buSzPts val="1600"/>
              <a:buChar char="•"/>
            </a:pPr>
            <a:r>
              <a:rPr lang="en" sz="1600"/>
              <a:t>Google Collab to work on Jupyter notebook as a group.</a:t>
            </a:r>
            <a:endParaRPr sz="1600"/>
          </a:p>
          <a:p>
            <a:pPr indent="0" lvl="0" marL="457200" rtl="0" algn="l">
              <a:lnSpc>
                <a:spcPct val="115000"/>
              </a:lnSpc>
              <a:spcBef>
                <a:spcPts val="0"/>
              </a:spcBef>
              <a:spcAft>
                <a:spcPts val="0"/>
              </a:spcAft>
              <a:buNone/>
            </a:pPr>
            <a:r>
              <a:t/>
            </a:r>
            <a:endParaRPr sz="1600"/>
          </a:p>
          <a:p>
            <a:pPr indent="-330200" lvl="0" marL="457200" rtl="0" algn="l">
              <a:lnSpc>
                <a:spcPct val="115000"/>
              </a:lnSpc>
              <a:spcBef>
                <a:spcPts val="0"/>
              </a:spcBef>
              <a:spcAft>
                <a:spcPts val="0"/>
              </a:spcAft>
              <a:buSzPts val="1600"/>
              <a:buChar char="•"/>
            </a:pPr>
            <a:r>
              <a:rPr lang="en" sz="1600"/>
              <a:t>Google Chat to communicate with members regarding the project.</a:t>
            </a:r>
            <a:endParaRPr sz="1600">
              <a:solidFill>
                <a:srgbClr val="1F386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1"/>
          <p:cNvSpPr txBox="1"/>
          <p:nvPr>
            <p:ph type="title"/>
          </p:nvPr>
        </p:nvSpPr>
        <p:spPr>
          <a:xfrm>
            <a:off x="430688" y="437134"/>
            <a:ext cx="7470300" cy="648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Implementation</a:t>
            </a:r>
            <a:endParaRPr/>
          </a:p>
        </p:txBody>
      </p:sp>
      <p:sp>
        <p:nvSpPr>
          <p:cNvPr id="161" name="Google Shape;161;p21"/>
          <p:cNvSpPr txBox="1"/>
          <p:nvPr>
            <p:ph idx="1" type="body"/>
          </p:nvPr>
        </p:nvSpPr>
        <p:spPr>
          <a:xfrm>
            <a:off x="430687" y="1193203"/>
            <a:ext cx="8219700" cy="3674700"/>
          </a:xfrm>
          <a:prstGeom prst="rect">
            <a:avLst/>
          </a:prstGeom>
        </p:spPr>
        <p:txBody>
          <a:bodyPr anchorCtr="0" anchor="t" bIns="34275" lIns="68575" spcFirstLastPara="1" rIns="68575" wrap="square" tIns="34275">
            <a:normAutofit/>
          </a:bodyPr>
          <a:lstStyle/>
          <a:p>
            <a:pPr indent="0" lvl="0" marL="0" rtl="0" algn="l">
              <a:lnSpc>
                <a:spcPct val="115000"/>
              </a:lnSpc>
              <a:spcBef>
                <a:spcPts val="1200"/>
              </a:spcBef>
              <a:spcAft>
                <a:spcPts val="0"/>
              </a:spcAft>
              <a:buNone/>
            </a:pPr>
            <a:r>
              <a:rPr b="1" i="1" lang="en" sz="1800"/>
              <a:t>Data</a:t>
            </a:r>
            <a:endParaRPr b="1" i="1" sz="1800"/>
          </a:p>
          <a:p>
            <a:pPr indent="-317500" lvl="0" marL="457200" rtl="0" algn="l">
              <a:lnSpc>
                <a:spcPct val="115000"/>
              </a:lnSpc>
              <a:spcBef>
                <a:spcPts val="1200"/>
              </a:spcBef>
              <a:spcAft>
                <a:spcPts val="0"/>
              </a:spcAft>
              <a:buSzPts val="1400"/>
              <a:buChar char="●"/>
            </a:pPr>
            <a:r>
              <a:rPr lang="en" sz="1400"/>
              <a:t>The COMPAS - </a:t>
            </a:r>
            <a:r>
              <a:rPr lang="en" sz="1400"/>
              <a:t>Correctional Offender Management Profiling for Alternative Sanctions</a:t>
            </a:r>
            <a:r>
              <a:rPr lang="en" sz="1400"/>
              <a:t> dataset contains variables used by the COMPAS algorithm in scoring criminal defendants, along with their outcomes within 2 years of the decision, in Broward County, Florida. </a:t>
            </a:r>
            <a:endParaRPr sz="1400"/>
          </a:p>
          <a:p>
            <a:pPr indent="-317500" lvl="0" marL="457200" rtl="0" algn="l">
              <a:lnSpc>
                <a:spcPct val="115000"/>
              </a:lnSpc>
              <a:spcBef>
                <a:spcPts val="1000"/>
              </a:spcBef>
              <a:spcAft>
                <a:spcPts val="0"/>
              </a:spcAft>
              <a:buSzPts val="1400"/>
              <a:buChar char="●"/>
            </a:pPr>
            <a:r>
              <a:rPr lang="en" sz="1400"/>
              <a:t>It is an algorithm designed to assess a defendant’s likelihood of recidivism. </a:t>
            </a:r>
            <a:endParaRPr sz="1400"/>
          </a:p>
          <a:p>
            <a:pPr indent="-317500" lvl="0" marL="457200" rtl="0" algn="l">
              <a:lnSpc>
                <a:spcPct val="115000"/>
              </a:lnSpc>
              <a:spcBef>
                <a:spcPts val="1000"/>
              </a:spcBef>
              <a:spcAft>
                <a:spcPts val="0"/>
              </a:spcAft>
              <a:buSzPts val="1400"/>
              <a:buChar char="●"/>
            </a:pPr>
            <a:r>
              <a:rPr lang="en" sz="1400"/>
              <a:t>Recidivism is a term used to describe individuals who re-offend. </a:t>
            </a:r>
            <a:endParaRPr sz="1400"/>
          </a:p>
          <a:p>
            <a:pPr indent="-317500" lvl="0" marL="457200" rtl="0" algn="l">
              <a:lnSpc>
                <a:spcPct val="115000"/>
              </a:lnSpc>
              <a:spcBef>
                <a:spcPts val="1000"/>
              </a:spcBef>
              <a:spcAft>
                <a:spcPts val="0"/>
              </a:spcAft>
              <a:buSzPts val="1400"/>
              <a:buChar char="●"/>
            </a:pPr>
            <a:r>
              <a:rPr lang="en" sz="1400"/>
              <a:t>COMPAS is used by criminal justice agencies to inform decisions regarding the placement, supervision and case management of offenders.</a:t>
            </a:r>
            <a:endParaRPr sz="1400"/>
          </a:p>
          <a:p>
            <a:pPr indent="-317500" lvl="0" marL="457200" rtl="0" algn="l">
              <a:lnSpc>
                <a:spcPct val="115000"/>
              </a:lnSpc>
              <a:spcBef>
                <a:spcPts val="1000"/>
              </a:spcBef>
              <a:spcAft>
                <a:spcPts val="0"/>
              </a:spcAft>
              <a:buSzPts val="1400"/>
              <a:buChar char="●"/>
            </a:pPr>
            <a:r>
              <a:rPr lang="en" sz="1400"/>
              <a:t>Published data from Propublica, ‘compas_scores_two_years.csv’, was used in this analysis.</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430688" y="437134"/>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sz="3200"/>
              <a:t>Implementation</a:t>
            </a:r>
            <a:endParaRPr/>
          </a:p>
        </p:txBody>
      </p:sp>
      <p:sp>
        <p:nvSpPr>
          <p:cNvPr id="167" name="Google Shape;167;p22"/>
          <p:cNvSpPr txBox="1"/>
          <p:nvPr>
            <p:ph idx="1" type="body"/>
          </p:nvPr>
        </p:nvSpPr>
        <p:spPr>
          <a:xfrm>
            <a:off x="281831" y="1086034"/>
            <a:ext cx="8219700" cy="3836100"/>
          </a:xfrm>
          <a:prstGeom prst="rect">
            <a:avLst/>
          </a:prstGeom>
          <a:noFill/>
          <a:ln>
            <a:noFill/>
          </a:ln>
        </p:spPr>
        <p:txBody>
          <a:bodyPr anchorCtr="0" anchor="t" bIns="34275" lIns="68575" spcFirstLastPara="1" rIns="68575" wrap="square" tIns="34275">
            <a:noAutofit/>
          </a:bodyPr>
          <a:lstStyle/>
          <a:p>
            <a:pPr indent="-342900" lvl="0" marL="457200" rtl="0" algn="l">
              <a:lnSpc>
                <a:spcPct val="115000"/>
              </a:lnSpc>
              <a:spcBef>
                <a:spcPts val="0"/>
              </a:spcBef>
              <a:spcAft>
                <a:spcPts val="0"/>
              </a:spcAft>
              <a:buSzPts val="1800"/>
              <a:buChar char="•"/>
            </a:pPr>
            <a:r>
              <a:rPr b="1" lang="en" sz="1800"/>
              <a:t>Data Cleaning and Processing</a:t>
            </a:r>
            <a:endParaRPr b="1" sz="1800"/>
          </a:p>
          <a:p>
            <a:pPr indent="-342900" lvl="1" marL="914400" rtl="0" algn="l">
              <a:lnSpc>
                <a:spcPct val="115000"/>
              </a:lnSpc>
              <a:spcBef>
                <a:spcPts val="0"/>
              </a:spcBef>
              <a:spcAft>
                <a:spcPts val="0"/>
              </a:spcAft>
              <a:buSzPts val="1800"/>
              <a:buChar char="•"/>
            </a:pPr>
            <a:r>
              <a:rPr lang="en"/>
              <a:t>Filtered raw COMPAS two-year recidivism dataset using the ProPublica criteria:</a:t>
            </a:r>
            <a:endParaRPr/>
          </a:p>
          <a:p>
            <a:pPr indent="-342900" lvl="2" marL="1371600" rtl="0" algn="l">
              <a:lnSpc>
                <a:spcPct val="115000"/>
              </a:lnSpc>
              <a:spcBef>
                <a:spcPts val="0"/>
              </a:spcBef>
              <a:spcAft>
                <a:spcPts val="0"/>
              </a:spcAft>
              <a:buSzPts val="1800"/>
              <a:buChar char="•"/>
            </a:pPr>
            <a:r>
              <a:rPr lang="en"/>
              <a:t>+/- 30 days of screening</a:t>
            </a:r>
            <a:endParaRPr/>
          </a:p>
          <a:p>
            <a:pPr indent="-342900" lvl="2" marL="1371600" rtl="0" algn="l">
              <a:lnSpc>
                <a:spcPct val="115000"/>
              </a:lnSpc>
              <a:spcBef>
                <a:spcPts val="0"/>
              </a:spcBef>
              <a:spcAft>
                <a:spcPts val="0"/>
              </a:spcAft>
              <a:buSzPts val="1800"/>
              <a:buChar char="•"/>
            </a:pPr>
            <a:r>
              <a:rPr lang="en"/>
              <a:t>valid recidivism labels</a:t>
            </a:r>
            <a:endParaRPr/>
          </a:p>
          <a:p>
            <a:pPr indent="-342900" lvl="2" marL="1371600" rtl="0" algn="l">
              <a:lnSpc>
                <a:spcPct val="115000"/>
              </a:lnSpc>
              <a:spcBef>
                <a:spcPts val="0"/>
              </a:spcBef>
              <a:spcAft>
                <a:spcPts val="0"/>
              </a:spcAft>
              <a:buSzPts val="1800"/>
              <a:buChar char="•"/>
            </a:pPr>
            <a:r>
              <a:rPr lang="en"/>
              <a:t>removal of traffic cases</a:t>
            </a:r>
            <a:endParaRPr/>
          </a:p>
          <a:p>
            <a:pPr indent="-342900" lvl="1" marL="914400" rtl="0" algn="l">
              <a:lnSpc>
                <a:spcPct val="115000"/>
              </a:lnSpc>
              <a:spcBef>
                <a:spcPts val="0"/>
              </a:spcBef>
              <a:spcAft>
                <a:spcPts val="0"/>
              </a:spcAft>
              <a:buSzPts val="1800"/>
              <a:buChar char="•"/>
            </a:pPr>
            <a:r>
              <a:rPr lang="en"/>
              <a:t>A final dataset was produced of 6,172 defendants with 53 attributes.</a:t>
            </a:r>
            <a:endParaRPr/>
          </a:p>
          <a:p>
            <a:pPr indent="-342900" lvl="1" marL="914400" rtl="0" algn="l">
              <a:lnSpc>
                <a:spcPct val="115000"/>
              </a:lnSpc>
              <a:spcBef>
                <a:spcPts val="0"/>
              </a:spcBef>
              <a:spcAft>
                <a:spcPts val="0"/>
              </a:spcAft>
              <a:buSzPts val="1800"/>
              <a:buChar char="•"/>
            </a:pPr>
            <a:r>
              <a:rPr lang="en"/>
              <a:t>Audited fields for re-identify risk, </a:t>
            </a:r>
            <a:r>
              <a:rPr lang="en"/>
              <a:t>classifying</a:t>
            </a:r>
            <a:r>
              <a:rPr lang="en"/>
              <a:t> them as PII, SPII, and indirect identifiers (INDIR)</a:t>
            </a:r>
            <a:endParaRPr/>
          </a:p>
          <a:p>
            <a:pPr indent="-342900" lvl="1" marL="914400" rtl="0" algn="l">
              <a:lnSpc>
                <a:spcPct val="115000"/>
              </a:lnSpc>
              <a:spcBef>
                <a:spcPts val="0"/>
              </a:spcBef>
              <a:spcAft>
                <a:spcPts val="0"/>
              </a:spcAft>
              <a:buSzPts val="1800"/>
              <a:buChar char="•"/>
            </a:pPr>
            <a:r>
              <a:rPr lang="en"/>
              <a:t>Two fields </a:t>
            </a:r>
            <a:r>
              <a:rPr i="1" lang="en"/>
              <a:t>start </a:t>
            </a:r>
            <a:r>
              <a:rPr lang="en"/>
              <a:t>and </a:t>
            </a:r>
            <a:r>
              <a:rPr i="1" lang="en"/>
              <a:t>end </a:t>
            </a:r>
            <a:r>
              <a:rPr lang="en"/>
              <a:t>were grouped as ‘Neither’ as none fit as identifiable information</a:t>
            </a:r>
            <a:endParaRPr/>
          </a:p>
          <a:p>
            <a:pPr indent="-342900" lvl="1" marL="914400" rtl="0" algn="l">
              <a:lnSpc>
                <a:spcPct val="115000"/>
              </a:lnSpc>
              <a:spcBef>
                <a:spcPts val="0"/>
              </a:spcBef>
              <a:spcAft>
                <a:spcPts val="0"/>
              </a:spcAft>
              <a:buSzPts val="1800"/>
              <a:buChar char="•"/>
            </a:pPr>
            <a:r>
              <a:rPr lang="en"/>
              <a:t>51/53 confirmed columns required privacy handling</a:t>
            </a:r>
            <a:endParaRPr/>
          </a:p>
          <a:p>
            <a:pPr indent="0" lvl="0" marL="0" rtl="0" algn="l">
              <a:lnSpc>
                <a:spcPct val="115000"/>
              </a:lnSpc>
              <a:spcBef>
                <a:spcPts val="1200"/>
              </a:spcBef>
              <a:spcAft>
                <a:spcPts val="0"/>
              </a:spcAft>
              <a:buNone/>
            </a:pPr>
            <a:r>
              <a:t/>
            </a:r>
            <a:endParaRPr sz="1500"/>
          </a:p>
          <a:p>
            <a:pPr indent="0" lvl="0" marL="0" rtl="0" algn="l">
              <a:lnSpc>
                <a:spcPct val="115000"/>
              </a:lnSpc>
              <a:spcBef>
                <a:spcPts val="1200"/>
              </a:spcBef>
              <a:spcAft>
                <a:spcPts val="0"/>
              </a:spcAft>
              <a:buSzPts val="1700"/>
              <a:buFont typeface="Arial"/>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SzPts val="1700"/>
              <a:buNone/>
            </a:pPr>
            <a:r>
              <a:t/>
            </a:r>
            <a:endParaRPr b="1" i="0" sz="1800">
              <a:solidFill>
                <a:srgbClr val="1F3864"/>
              </a:solidFill>
              <a:highlight>
                <a:srgbClr val="FFFF00"/>
              </a:highlight>
              <a:latin typeface="Arial"/>
              <a:ea typeface="Arial"/>
              <a:cs typeface="Arial"/>
              <a:sym typeface="Arial"/>
            </a:endParaRPr>
          </a:p>
          <a:p>
            <a:pPr indent="-292100" lvl="0" marL="514350" rtl="0" algn="l">
              <a:lnSpc>
                <a:spcPct val="115000"/>
              </a:lnSpc>
              <a:spcBef>
                <a:spcPts val="0"/>
              </a:spcBef>
              <a:spcAft>
                <a:spcPts val="0"/>
              </a:spcAft>
              <a:buSzPts val="1700"/>
              <a:buFont typeface="Arial"/>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Clr>
                <a:schemeClr val="dk1"/>
              </a:buClr>
              <a:buSzPts val="1700"/>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Clr>
                <a:schemeClr val="dk1"/>
              </a:buClr>
              <a:buSzPts val="1700"/>
              <a:buNone/>
            </a:pP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endParaRPr sz="1800">
              <a:solidFill>
                <a:srgbClr val="1F386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3"/>
          <p:cNvSpPr txBox="1"/>
          <p:nvPr>
            <p:ph type="title"/>
          </p:nvPr>
        </p:nvSpPr>
        <p:spPr>
          <a:xfrm>
            <a:off x="430688" y="437134"/>
            <a:ext cx="7470300" cy="648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PII, SPII, Indirect Identifiers</a:t>
            </a:r>
            <a:endParaRPr/>
          </a:p>
        </p:txBody>
      </p:sp>
      <p:graphicFrame>
        <p:nvGraphicFramePr>
          <p:cNvPr id="173" name="Google Shape;173;p23"/>
          <p:cNvGraphicFramePr/>
          <p:nvPr/>
        </p:nvGraphicFramePr>
        <p:xfrm>
          <a:off x="430725" y="1165925"/>
          <a:ext cx="3000000" cy="3000000"/>
        </p:xfrm>
        <a:graphic>
          <a:graphicData uri="http://schemas.openxmlformats.org/drawingml/2006/table">
            <a:tbl>
              <a:tblPr>
                <a:noFill/>
                <a:tableStyleId>{BF99C36D-B991-4D8B-8B2D-DFE122FA7C08}</a:tableStyleId>
              </a:tblPr>
              <a:tblGrid>
                <a:gridCol w="2490100"/>
                <a:gridCol w="2490100"/>
                <a:gridCol w="2490100"/>
              </a:tblGrid>
              <a:tr h="526875">
                <a:tc>
                  <a:txBody>
                    <a:bodyPr/>
                    <a:lstStyle/>
                    <a:p>
                      <a:pPr indent="0" lvl="0" marL="0" rtl="0" algn="l">
                        <a:spcBef>
                          <a:spcPts val="0"/>
                        </a:spcBef>
                        <a:spcAft>
                          <a:spcPts val="0"/>
                        </a:spcAft>
                        <a:buNone/>
                      </a:pPr>
                      <a:r>
                        <a:rPr b="1" lang="en" sz="2500">
                          <a:solidFill>
                            <a:schemeClr val="dk1"/>
                          </a:solidFill>
                          <a:latin typeface="Times New Roman"/>
                          <a:ea typeface="Times New Roman"/>
                          <a:cs typeface="Times New Roman"/>
                          <a:sym typeface="Times New Roman"/>
                        </a:rPr>
                        <a:t>Category</a:t>
                      </a:r>
                      <a:endParaRPr b="1" sz="2500">
                        <a:solidFill>
                          <a:schemeClr val="dk1"/>
                        </a:solidFill>
                        <a:latin typeface="Times New Roman"/>
                        <a:ea typeface="Times New Roman"/>
                        <a:cs typeface="Times New Roman"/>
                        <a:sym typeface="Times New Roman"/>
                      </a:endParaRPr>
                    </a:p>
                  </a:txBody>
                  <a:tcPr marT="63500" marB="63500" marR="63500" marL="63500">
                    <a:noFill/>
                  </a:tcPr>
                </a:tc>
                <a:tc>
                  <a:txBody>
                    <a:bodyPr/>
                    <a:lstStyle/>
                    <a:p>
                      <a:pPr indent="0" lvl="0" marL="0" rtl="0" algn="l">
                        <a:spcBef>
                          <a:spcPts val="0"/>
                        </a:spcBef>
                        <a:spcAft>
                          <a:spcPts val="0"/>
                        </a:spcAft>
                        <a:buNone/>
                      </a:pPr>
                      <a:r>
                        <a:rPr b="1" lang="en" sz="2500">
                          <a:solidFill>
                            <a:schemeClr val="dk1"/>
                          </a:solidFill>
                          <a:latin typeface="Times New Roman"/>
                          <a:ea typeface="Times New Roman"/>
                          <a:cs typeface="Times New Roman"/>
                          <a:sym typeface="Times New Roman"/>
                        </a:rPr>
                        <a:t>Fields</a:t>
                      </a:r>
                      <a:endParaRPr b="1" sz="2500">
                        <a:solidFill>
                          <a:schemeClr val="dk1"/>
                        </a:solidFill>
                        <a:latin typeface="Times New Roman"/>
                        <a:ea typeface="Times New Roman"/>
                        <a:cs typeface="Times New Roman"/>
                        <a:sym typeface="Times New Roman"/>
                      </a:endParaRPr>
                    </a:p>
                  </a:txBody>
                  <a:tcPr marT="63500" marB="63500" marR="63500" marL="63500">
                    <a:noFill/>
                  </a:tcPr>
                </a:tc>
                <a:tc>
                  <a:txBody>
                    <a:bodyPr/>
                    <a:lstStyle/>
                    <a:p>
                      <a:pPr indent="0" lvl="0" marL="0" rtl="0" algn="l">
                        <a:spcBef>
                          <a:spcPts val="0"/>
                        </a:spcBef>
                        <a:spcAft>
                          <a:spcPts val="0"/>
                        </a:spcAft>
                        <a:buNone/>
                      </a:pPr>
                      <a:r>
                        <a:rPr b="1" lang="en" sz="2500">
                          <a:solidFill>
                            <a:schemeClr val="dk1"/>
                          </a:solidFill>
                          <a:latin typeface="Times New Roman"/>
                          <a:ea typeface="Times New Roman"/>
                          <a:cs typeface="Times New Roman"/>
                          <a:sym typeface="Times New Roman"/>
                        </a:rPr>
                        <a:t>Count</a:t>
                      </a:r>
                      <a:endParaRPr b="1" sz="2500">
                        <a:solidFill>
                          <a:schemeClr val="dk1"/>
                        </a:solidFill>
                        <a:latin typeface="Times New Roman"/>
                        <a:ea typeface="Times New Roman"/>
                        <a:cs typeface="Times New Roman"/>
                        <a:sym typeface="Times New Roman"/>
                      </a:endParaRPr>
                    </a:p>
                  </a:txBody>
                  <a:tcPr marT="63500" marB="63500" marR="63500" marL="63500">
                    <a:noFill/>
                  </a:tcPr>
                </a:tc>
              </a:tr>
              <a:tr h="526875">
                <a:tc>
                  <a:txBody>
                    <a:bodyPr/>
                    <a:lstStyle/>
                    <a:p>
                      <a:pPr indent="0" lvl="0" marL="0" rtl="0" algn="l">
                        <a:spcBef>
                          <a:spcPts val="0"/>
                        </a:spcBef>
                        <a:spcAft>
                          <a:spcPts val="0"/>
                        </a:spcAft>
                        <a:buNone/>
                      </a:pPr>
                      <a:r>
                        <a:rPr b="1" lang="en" sz="1800">
                          <a:solidFill>
                            <a:schemeClr val="dk1"/>
                          </a:solidFill>
                          <a:latin typeface="Times New Roman"/>
                          <a:ea typeface="Times New Roman"/>
                          <a:cs typeface="Times New Roman"/>
                          <a:sym typeface="Times New Roman"/>
                        </a:rPr>
                        <a:t>PII</a:t>
                      </a:r>
                      <a:endParaRPr b="1" sz="1800">
                        <a:solidFill>
                          <a:schemeClr val="dk1"/>
                        </a:solidFill>
                        <a:latin typeface="Times New Roman"/>
                        <a:ea typeface="Times New Roman"/>
                        <a:cs typeface="Times New Roman"/>
                        <a:sym typeface="Times New Roman"/>
                      </a:endParaRPr>
                    </a:p>
                  </a:txBody>
                  <a:tcPr marT="63500" marB="63500" marR="63500" marL="63500">
                    <a:noFill/>
                  </a:tcPr>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full name, first, last,  id</a:t>
                      </a:r>
                      <a:endParaRPr sz="1800">
                        <a:solidFill>
                          <a:schemeClr val="dk1"/>
                        </a:solidFill>
                        <a:latin typeface="Times New Roman"/>
                        <a:ea typeface="Times New Roman"/>
                        <a:cs typeface="Times New Roman"/>
                        <a:sym typeface="Times New Roman"/>
                      </a:endParaRPr>
                    </a:p>
                  </a:txBody>
                  <a:tcPr marT="63500" marB="63500" marR="63500" marL="63500">
                    <a:noFill/>
                  </a:tcPr>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4</a:t>
                      </a:r>
                      <a:endParaRPr sz="1800">
                        <a:solidFill>
                          <a:schemeClr val="dk1"/>
                        </a:solidFill>
                        <a:latin typeface="Times New Roman"/>
                        <a:ea typeface="Times New Roman"/>
                        <a:cs typeface="Times New Roman"/>
                        <a:sym typeface="Times New Roman"/>
                      </a:endParaRPr>
                    </a:p>
                  </a:txBody>
                  <a:tcPr marT="63500" marB="63500" marR="63500" marL="63500">
                    <a:noFill/>
                  </a:tcPr>
                </a:tc>
              </a:tr>
              <a:tr h="889250">
                <a:tc>
                  <a:txBody>
                    <a:bodyPr/>
                    <a:lstStyle/>
                    <a:p>
                      <a:pPr indent="0" lvl="0" marL="0" rtl="0" algn="l">
                        <a:spcBef>
                          <a:spcPts val="0"/>
                        </a:spcBef>
                        <a:spcAft>
                          <a:spcPts val="0"/>
                        </a:spcAft>
                        <a:buNone/>
                      </a:pPr>
                      <a:r>
                        <a:rPr b="1" lang="en" sz="1800">
                          <a:solidFill>
                            <a:schemeClr val="dk1"/>
                          </a:solidFill>
                          <a:latin typeface="Times New Roman"/>
                          <a:ea typeface="Times New Roman"/>
                          <a:cs typeface="Times New Roman"/>
                          <a:sym typeface="Times New Roman"/>
                        </a:rPr>
                        <a:t>SPII</a:t>
                      </a:r>
                      <a:endParaRPr b="1" sz="1800">
                        <a:solidFill>
                          <a:schemeClr val="dk1"/>
                        </a:solidFill>
                        <a:latin typeface="Times New Roman"/>
                        <a:ea typeface="Times New Roman"/>
                        <a:cs typeface="Times New Roman"/>
                        <a:sym typeface="Times New Roman"/>
                      </a:endParaRPr>
                    </a:p>
                  </a:txBody>
                  <a:tcPr marT="63500" marB="63500" marR="63500" marL="63500">
                    <a:noFill/>
                  </a:tcPr>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race, sex, dob, jail/arrest/case details, assessment</a:t>
                      </a:r>
                      <a:endParaRPr sz="1800">
                        <a:solidFill>
                          <a:schemeClr val="dk1"/>
                        </a:solidFill>
                        <a:latin typeface="Times New Roman"/>
                        <a:ea typeface="Times New Roman"/>
                        <a:cs typeface="Times New Roman"/>
                        <a:sym typeface="Times New Roman"/>
                      </a:endParaRPr>
                    </a:p>
                  </a:txBody>
                  <a:tcPr marT="63500" marB="63500" marR="63500" marL="63500">
                    <a:noFill/>
                  </a:tcPr>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13</a:t>
                      </a:r>
                      <a:endParaRPr sz="1800">
                        <a:solidFill>
                          <a:schemeClr val="dk1"/>
                        </a:solidFill>
                        <a:latin typeface="Times New Roman"/>
                        <a:ea typeface="Times New Roman"/>
                        <a:cs typeface="Times New Roman"/>
                        <a:sym typeface="Times New Roman"/>
                      </a:endParaRPr>
                    </a:p>
                  </a:txBody>
                  <a:tcPr marT="63500" marB="63500" marR="63500" marL="63500">
                    <a:noFill/>
                  </a:tcPr>
                </a:tc>
              </a:tr>
              <a:tr h="1146300">
                <a:tc>
                  <a:txBody>
                    <a:bodyPr/>
                    <a:lstStyle/>
                    <a:p>
                      <a:pPr indent="0" lvl="0" marL="0" rtl="0" algn="l">
                        <a:spcBef>
                          <a:spcPts val="0"/>
                        </a:spcBef>
                        <a:spcAft>
                          <a:spcPts val="0"/>
                        </a:spcAft>
                        <a:buNone/>
                      </a:pPr>
                      <a:r>
                        <a:rPr b="1" lang="en" sz="1800">
                          <a:solidFill>
                            <a:schemeClr val="dk1"/>
                          </a:solidFill>
                          <a:latin typeface="Times New Roman"/>
                          <a:ea typeface="Times New Roman"/>
                          <a:cs typeface="Times New Roman"/>
                          <a:sym typeface="Times New Roman"/>
                        </a:rPr>
                        <a:t>INDIR</a:t>
                      </a:r>
                      <a:endParaRPr b="1" sz="1800">
                        <a:solidFill>
                          <a:schemeClr val="dk1"/>
                        </a:solidFill>
                        <a:latin typeface="Times New Roman"/>
                        <a:ea typeface="Times New Roman"/>
                        <a:cs typeface="Times New Roman"/>
                        <a:sym typeface="Times New Roman"/>
                      </a:endParaRPr>
                    </a:p>
                  </a:txBody>
                  <a:tcPr marT="63500" marB="63500" marR="63500" marL="63500">
                    <a:noFill/>
                  </a:tcPr>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age, days_b_screening_arrest, offense timing, prior counts</a:t>
                      </a:r>
                      <a:endParaRPr sz="1800">
                        <a:solidFill>
                          <a:schemeClr val="dk1"/>
                        </a:solidFill>
                        <a:latin typeface="Times New Roman"/>
                        <a:ea typeface="Times New Roman"/>
                        <a:cs typeface="Times New Roman"/>
                        <a:sym typeface="Times New Roman"/>
                      </a:endParaRPr>
                    </a:p>
                  </a:txBody>
                  <a:tcPr marT="63500" marB="63500" marR="63500" marL="63500">
                    <a:noFill/>
                  </a:tcPr>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34</a:t>
                      </a:r>
                      <a:endParaRPr sz="1800">
                        <a:solidFill>
                          <a:schemeClr val="dk1"/>
                        </a:solidFill>
                        <a:latin typeface="Times New Roman"/>
                        <a:ea typeface="Times New Roman"/>
                        <a:cs typeface="Times New Roman"/>
                        <a:sym typeface="Times New Roman"/>
                      </a:endParaRPr>
                    </a:p>
                  </a:txBody>
                  <a:tcPr marT="63500" marB="63500" marR="63500" marL="63500">
                    <a:noFill/>
                  </a:tcPr>
                </a:tc>
              </a:tr>
              <a:tr h="526875">
                <a:tc>
                  <a:txBody>
                    <a:bodyPr/>
                    <a:lstStyle/>
                    <a:p>
                      <a:pPr indent="0" lvl="0" marL="0" rtl="0" algn="l">
                        <a:spcBef>
                          <a:spcPts val="0"/>
                        </a:spcBef>
                        <a:spcAft>
                          <a:spcPts val="0"/>
                        </a:spcAft>
                        <a:buNone/>
                      </a:pPr>
                      <a:r>
                        <a:rPr b="1" lang="en" sz="1800">
                          <a:solidFill>
                            <a:schemeClr val="dk1"/>
                          </a:solidFill>
                          <a:latin typeface="Times New Roman"/>
                          <a:ea typeface="Times New Roman"/>
                          <a:cs typeface="Times New Roman"/>
                          <a:sym typeface="Times New Roman"/>
                        </a:rPr>
                        <a:t>Neither</a:t>
                      </a:r>
                      <a:endParaRPr b="1" sz="1800">
                        <a:solidFill>
                          <a:schemeClr val="dk1"/>
                        </a:solidFill>
                        <a:latin typeface="Times New Roman"/>
                        <a:ea typeface="Times New Roman"/>
                        <a:cs typeface="Times New Roman"/>
                        <a:sym typeface="Times New Roman"/>
                      </a:endParaRPr>
                    </a:p>
                  </a:txBody>
                  <a:tcPr marT="63500" marB="63500" marR="63500" marL="63500">
                    <a:noFill/>
                  </a:tcPr>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start, end</a:t>
                      </a:r>
                      <a:endParaRPr sz="1800">
                        <a:solidFill>
                          <a:schemeClr val="dk1"/>
                        </a:solidFill>
                        <a:latin typeface="Times New Roman"/>
                        <a:ea typeface="Times New Roman"/>
                        <a:cs typeface="Times New Roman"/>
                        <a:sym typeface="Times New Roman"/>
                      </a:endParaRPr>
                    </a:p>
                  </a:txBody>
                  <a:tcPr marT="63500" marB="63500" marR="63500" marL="63500">
                    <a:noFill/>
                  </a:tcPr>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2</a:t>
                      </a:r>
                      <a:endParaRPr sz="1800">
                        <a:solidFill>
                          <a:schemeClr val="dk1"/>
                        </a:solidFill>
                        <a:latin typeface="Times New Roman"/>
                        <a:ea typeface="Times New Roman"/>
                        <a:cs typeface="Times New Roman"/>
                        <a:sym typeface="Times New Roman"/>
                      </a:endParaRPr>
                    </a:p>
                  </a:txBody>
                  <a:tcPr marT="63500" marB="63500" marR="63500" marL="63500">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4"/>
          <p:cNvSpPr txBox="1"/>
          <p:nvPr>
            <p:ph type="title"/>
          </p:nvPr>
        </p:nvSpPr>
        <p:spPr>
          <a:xfrm>
            <a:off x="373013" y="264084"/>
            <a:ext cx="7470300" cy="648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Analytical Workflow</a:t>
            </a:r>
            <a:endParaRPr/>
          </a:p>
        </p:txBody>
      </p:sp>
      <p:sp>
        <p:nvSpPr>
          <p:cNvPr id="179" name="Google Shape;179;p24"/>
          <p:cNvSpPr txBox="1"/>
          <p:nvPr>
            <p:ph idx="1" type="body"/>
          </p:nvPr>
        </p:nvSpPr>
        <p:spPr>
          <a:xfrm>
            <a:off x="430675" y="974400"/>
            <a:ext cx="8219700" cy="4037700"/>
          </a:xfrm>
          <a:prstGeom prst="rect">
            <a:avLst/>
          </a:prstGeom>
        </p:spPr>
        <p:txBody>
          <a:bodyPr anchorCtr="0" anchor="t" bIns="34275" lIns="68575" spcFirstLastPara="1" rIns="68575" wrap="square" tIns="34275">
            <a:normAutofit lnSpcReduction="10000"/>
          </a:bodyPr>
          <a:lstStyle/>
          <a:p>
            <a:pPr indent="-317500" lvl="0" marL="457200" rtl="0" algn="l">
              <a:spcBef>
                <a:spcPts val="800"/>
              </a:spcBef>
              <a:spcAft>
                <a:spcPts val="0"/>
              </a:spcAft>
              <a:buSzPts val="1400"/>
              <a:buChar char="●"/>
            </a:pPr>
            <a:r>
              <a:rPr lang="en" sz="1400"/>
              <a:t>The analysis proceeded in two layers: </a:t>
            </a:r>
            <a:endParaRPr sz="1400"/>
          </a:p>
          <a:p>
            <a:pPr indent="0" lvl="0" marL="457200" rtl="0" algn="l">
              <a:spcBef>
                <a:spcPts val="800"/>
              </a:spcBef>
              <a:spcAft>
                <a:spcPts val="0"/>
              </a:spcAft>
              <a:buNone/>
            </a:pPr>
            <a:r>
              <a:rPr lang="en" sz="1400"/>
              <a:t>1. A ground-truth (non-DP) layer</a:t>
            </a:r>
            <a:endParaRPr sz="1400"/>
          </a:p>
          <a:p>
            <a:pPr indent="0" lvl="0" marL="457200" rtl="0" algn="l">
              <a:spcBef>
                <a:spcPts val="800"/>
              </a:spcBef>
              <a:spcAft>
                <a:spcPts val="0"/>
              </a:spcAft>
              <a:buNone/>
            </a:pPr>
            <a:r>
              <a:rPr lang="en" sz="1400"/>
              <a:t>2.  A differentially private layer using both Laplace (ε-DP) and Gaussian ((ε, δ)-DP) mechanisms</a:t>
            </a:r>
            <a:endParaRPr sz="1400"/>
          </a:p>
          <a:p>
            <a:pPr indent="-311150" lvl="0" marL="457200" rtl="0" algn="l">
              <a:lnSpc>
                <a:spcPct val="115000"/>
              </a:lnSpc>
              <a:spcBef>
                <a:spcPts val="1000"/>
              </a:spcBef>
              <a:spcAft>
                <a:spcPts val="0"/>
              </a:spcAft>
              <a:buSzPts val="1300"/>
              <a:buChar char="●"/>
            </a:pPr>
            <a:r>
              <a:rPr lang="en" sz="1300"/>
              <a:t>Various queries were evaluated to support our analysis of the COMPAS dataset. </a:t>
            </a:r>
            <a:endParaRPr sz="1300"/>
          </a:p>
          <a:p>
            <a:pPr indent="-311150" lvl="1" marL="914400" rtl="0" algn="l">
              <a:lnSpc>
                <a:spcPct val="115000"/>
              </a:lnSpc>
              <a:spcBef>
                <a:spcPts val="1000"/>
              </a:spcBef>
              <a:spcAft>
                <a:spcPts val="0"/>
              </a:spcAft>
              <a:buSzPts val="1300"/>
              <a:buChar char="○"/>
            </a:pPr>
            <a:r>
              <a:rPr lang="en" sz="1300"/>
              <a:t>These queries include the use of Laplace and Gaussian mechanisms on the distribution of:</a:t>
            </a:r>
            <a:endParaRPr sz="1300"/>
          </a:p>
          <a:p>
            <a:pPr indent="-311150" lvl="2" marL="1371600" rtl="0" algn="l">
              <a:lnSpc>
                <a:spcPct val="115000"/>
              </a:lnSpc>
              <a:spcBef>
                <a:spcPts val="0"/>
              </a:spcBef>
              <a:spcAft>
                <a:spcPts val="0"/>
              </a:spcAft>
              <a:buSzPts val="1300"/>
              <a:buChar char="■"/>
            </a:pPr>
            <a:r>
              <a:rPr lang="en" sz="1300"/>
              <a:t>Racial groups</a:t>
            </a:r>
            <a:endParaRPr sz="1300"/>
          </a:p>
          <a:p>
            <a:pPr indent="-311150" lvl="2" marL="1371600" rtl="0" algn="l">
              <a:lnSpc>
                <a:spcPct val="115000"/>
              </a:lnSpc>
              <a:spcBef>
                <a:spcPts val="0"/>
              </a:spcBef>
              <a:spcAft>
                <a:spcPts val="0"/>
              </a:spcAft>
              <a:buSzPts val="1300"/>
              <a:buChar char="■"/>
            </a:pPr>
            <a:r>
              <a:rPr lang="en" sz="1300"/>
              <a:t>Age </a:t>
            </a:r>
            <a:endParaRPr sz="1300"/>
          </a:p>
          <a:p>
            <a:pPr indent="-311150" lvl="2" marL="1371600" rtl="0" algn="l">
              <a:lnSpc>
                <a:spcPct val="115000"/>
              </a:lnSpc>
              <a:spcBef>
                <a:spcPts val="0"/>
              </a:spcBef>
              <a:spcAft>
                <a:spcPts val="0"/>
              </a:spcAft>
              <a:buSzPts val="1300"/>
              <a:buChar char="■"/>
            </a:pPr>
            <a:r>
              <a:rPr lang="en" sz="1300"/>
              <a:t>Gender</a:t>
            </a:r>
            <a:endParaRPr sz="1300"/>
          </a:p>
          <a:p>
            <a:pPr indent="-311150" lvl="2" marL="1371600" rtl="0" algn="l">
              <a:lnSpc>
                <a:spcPct val="115000"/>
              </a:lnSpc>
              <a:spcBef>
                <a:spcPts val="0"/>
              </a:spcBef>
              <a:spcAft>
                <a:spcPts val="0"/>
              </a:spcAft>
              <a:buSzPts val="1300"/>
              <a:buChar char="■"/>
            </a:pPr>
            <a:r>
              <a:rPr lang="en" sz="1300"/>
              <a:t>COMPAS decile score distribution</a:t>
            </a:r>
            <a:endParaRPr sz="1300"/>
          </a:p>
          <a:p>
            <a:pPr indent="-311150" lvl="2" marL="1371600" rtl="0" algn="l">
              <a:lnSpc>
                <a:spcPct val="115000"/>
              </a:lnSpc>
              <a:spcBef>
                <a:spcPts val="0"/>
              </a:spcBef>
              <a:spcAft>
                <a:spcPts val="0"/>
              </a:spcAft>
              <a:buSzPts val="1300"/>
              <a:buChar char="■"/>
            </a:pPr>
            <a:r>
              <a:rPr lang="en" sz="1300"/>
              <a:t>Two-year recidivism/re-offender rates or the proportion of defendants who committed a new crime over the two years </a:t>
            </a:r>
            <a:endParaRPr sz="1300"/>
          </a:p>
          <a:p>
            <a:pPr indent="-311150" lvl="2" marL="1371600" rtl="0" algn="l">
              <a:lnSpc>
                <a:spcPct val="115000"/>
              </a:lnSpc>
              <a:spcBef>
                <a:spcPts val="0"/>
              </a:spcBef>
              <a:spcAft>
                <a:spcPts val="0"/>
              </a:spcAft>
              <a:buSzPts val="1300"/>
              <a:buChar char="■"/>
            </a:pPr>
            <a:r>
              <a:rPr lang="en" sz="1300"/>
              <a:t>Differences in COMPAS score averages, decile score distribution by race. </a:t>
            </a:r>
            <a:endParaRPr sz="1300"/>
          </a:p>
          <a:p>
            <a:pPr indent="-311150" lvl="1" marL="914400" rtl="0" algn="l">
              <a:lnSpc>
                <a:spcPct val="115000"/>
              </a:lnSpc>
              <a:spcBef>
                <a:spcPts val="1000"/>
              </a:spcBef>
              <a:spcAft>
                <a:spcPts val="0"/>
              </a:spcAft>
              <a:buSzPts val="1300"/>
              <a:buChar char="○"/>
            </a:pPr>
            <a:r>
              <a:rPr lang="en" sz="1300"/>
              <a:t>Each query was executed under different privacy budget settings. For clarity, the following sections present results for a selected subset of these scenarios, while the full set of  results is available in our implementation code.</a:t>
            </a:r>
            <a:endParaRPr sz="1300"/>
          </a:p>
          <a:p>
            <a:pPr indent="0" lvl="0" marL="0" rtl="0" algn="l">
              <a:spcBef>
                <a:spcPts val="800"/>
              </a:spcBef>
              <a:spcAft>
                <a:spcPts val="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ph type="title"/>
          </p:nvPr>
        </p:nvSpPr>
        <p:spPr>
          <a:xfrm>
            <a:off x="430688" y="437134"/>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sz="3200"/>
              <a:t>Experimental Evaluation</a:t>
            </a:r>
            <a:endParaRPr/>
          </a:p>
        </p:txBody>
      </p:sp>
      <p:sp>
        <p:nvSpPr>
          <p:cNvPr id="185" name="Google Shape;185;p25"/>
          <p:cNvSpPr txBox="1"/>
          <p:nvPr>
            <p:ph idx="1" type="body"/>
          </p:nvPr>
        </p:nvSpPr>
        <p:spPr>
          <a:xfrm>
            <a:off x="281831" y="1086034"/>
            <a:ext cx="8219700" cy="3836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t/>
            </a:r>
            <a:endParaRPr sz="1800"/>
          </a:p>
          <a:p>
            <a:pPr indent="0" lvl="0" marL="0" rtl="0" algn="l">
              <a:lnSpc>
                <a:spcPct val="115000"/>
              </a:lnSpc>
              <a:spcBef>
                <a:spcPts val="1200"/>
              </a:spcBef>
              <a:spcAft>
                <a:spcPts val="0"/>
              </a:spcAft>
              <a:buSzPts val="1700"/>
              <a:buFont typeface="Arial"/>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SzPts val="1700"/>
              <a:buNone/>
            </a:pPr>
            <a:r>
              <a:t/>
            </a:r>
            <a:endParaRPr b="1" i="0" sz="1800">
              <a:solidFill>
                <a:srgbClr val="1F3864"/>
              </a:solidFill>
              <a:highlight>
                <a:srgbClr val="FFFF00"/>
              </a:highlight>
              <a:latin typeface="Arial"/>
              <a:ea typeface="Arial"/>
              <a:cs typeface="Arial"/>
              <a:sym typeface="Arial"/>
            </a:endParaRPr>
          </a:p>
          <a:p>
            <a:pPr indent="-292100" lvl="0" marL="514350" rtl="0" algn="l">
              <a:lnSpc>
                <a:spcPct val="115000"/>
              </a:lnSpc>
              <a:spcBef>
                <a:spcPts val="0"/>
              </a:spcBef>
              <a:spcAft>
                <a:spcPts val="0"/>
              </a:spcAft>
              <a:buSzPts val="1700"/>
              <a:buFont typeface="Arial"/>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Clr>
                <a:schemeClr val="dk1"/>
              </a:buClr>
              <a:buSzPts val="1700"/>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Clr>
                <a:schemeClr val="dk1"/>
              </a:buClr>
              <a:buSzPts val="1700"/>
              <a:buNone/>
            </a:pP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endParaRPr sz="1800">
              <a:solidFill>
                <a:srgbClr val="1F3864"/>
              </a:solidFill>
            </a:endParaRPr>
          </a:p>
        </p:txBody>
      </p:sp>
      <p:pic>
        <p:nvPicPr>
          <p:cNvPr id="186" name="Google Shape;186;p25"/>
          <p:cNvPicPr preferRelativeResize="0"/>
          <p:nvPr/>
        </p:nvPicPr>
        <p:blipFill>
          <a:blip r:embed="rId3">
            <a:alphaModFix/>
          </a:blip>
          <a:stretch>
            <a:fillRect/>
          </a:stretch>
        </p:blipFill>
        <p:spPr>
          <a:xfrm>
            <a:off x="430700" y="1164550"/>
            <a:ext cx="4769975" cy="1431007"/>
          </a:xfrm>
          <a:prstGeom prst="rect">
            <a:avLst/>
          </a:prstGeom>
          <a:noFill/>
          <a:ln>
            <a:noFill/>
          </a:ln>
        </p:spPr>
      </p:pic>
      <p:pic>
        <p:nvPicPr>
          <p:cNvPr id="187" name="Google Shape;187;p25"/>
          <p:cNvPicPr preferRelativeResize="0"/>
          <p:nvPr/>
        </p:nvPicPr>
        <p:blipFill>
          <a:blip r:embed="rId4">
            <a:alphaModFix/>
          </a:blip>
          <a:stretch>
            <a:fillRect/>
          </a:stretch>
        </p:blipFill>
        <p:spPr>
          <a:xfrm>
            <a:off x="430700" y="2647000"/>
            <a:ext cx="4584953" cy="2275126"/>
          </a:xfrm>
          <a:prstGeom prst="rect">
            <a:avLst/>
          </a:prstGeom>
          <a:noFill/>
          <a:ln>
            <a:noFill/>
          </a:ln>
        </p:spPr>
      </p:pic>
      <p:pic>
        <p:nvPicPr>
          <p:cNvPr id="188" name="Google Shape;188;p25"/>
          <p:cNvPicPr preferRelativeResize="0"/>
          <p:nvPr/>
        </p:nvPicPr>
        <p:blipFill>
          <a:blip r:embed="rId5">
            <a:alphaModFix/>
          </a:blip>
          <a:stretch>
            <a:fillRect/>
          </a:stretch>
        </p:blipFill>
        <p:spPr>
          <a:xfrm>
            <a:off x="5297774" y="2588750"/>
            <a:ext cx="3203751" cy="2275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ph type="title"/>
          </p:nvPr>
        </p:nvSpPr>
        <p:spPr>
          <a:xfrm>
            <a:off x="430688" y="437134"/>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sz="3200"/>
              <a:t>Experimental Evaluation</a:t>
            </a:r>
            <a:endParaRPr/>
          </a:p>
        </p:txBody>
      </p:sp>
      <p:pic>
        <p:nvPicPr>
          <p:cNvPr id="194" name="Google Shape;194;p26"/>
          <p:cNvPicPr preferRelativeResize="0"/>
          <p:nvPr/>
        </p:nvPicPr>
        <p:blipFill>
          <a:blip r:embed="rId3">
            <a:alphaModFix/>
          </a:blip>
          <a:stretch>
            <a:fillRect/>
          </a:stretch>
        </p:blipFill>
        <p:spPr>
          <a:xfrm>
            <a:off x="430700" y="1139225"/>
            <a:ext cx="3786225" cy="2688775"/>
          </a:xfrm>
          <a:prstGeom prst="rect">
            <a:avLst/>
          </a:prstGeom>
          <a:noFill/>
          <a:ln>
            <a:noFill/>
          </a:ln>
        </p:spPr>
      </p:pic>
      <p:pic>
        <p:nvPicPr>
          <p:cNvPr id="195" name="Google Shape;195;p26"/>
          <p:cNvPicPr preferRelativeResize="0"/>
          <p:nvPr/>
        </p:nvPicPr>
        <p:blipFill>
          <a:blip r:embed="rId4">
            <a:alphaModFix/>
          </a:blip>
          <a:stretch>
            <a:fillRect/>
          </a:stretch>
        </p:blipFill>
        <p:spPr>
          <a:xfrm>
            <a:off x="679325" y="3992772"/>
            <a:ext cx="3288975" cy="694325"/>
          </a:xfrm>
          <a:prstGeom prst="rect">
            <a:avLst/>
          </a:prstGeom>
          <a:noFill/>
          <a:ln>
            <a:noFill/>
          </a:ln>
        </p:spPr>
      </p:pic>
      <p:pic>
        <p:nvPicPr>
          <p:cNvPr id="196" name="Google Shape;196;p26"/>
          <p:cNvPicPr preferRelativeResize="0"/>
          <p:nvPr/>
        </p:nvPicPr>
        <p:blipFill>
          <a:blip r:embed="rId5">
            <a:alphaModFix/>
          </a:blip>
          <a:stretch>
            <a:fillRect/>
          </a:stretch>
        </p:blipFill>
        <p:spPr>
          <a:xfrm>
            <a:off x="4370650" y="1086025"/>
            <a:ext cx="4447701" cy="2653349"/>
          </a:xfrm>
          <a:prstGeom prst="rect">
            <a:avLst/>
          </a:prstGeom>
          <a:noFill/>
          <a:ln>
            <a:noFill/>
          </a:ln>
        </p:spPr>
      </p:pic>
      <p:pic>
        <p:nvPicPr>
          <p:cNvPr id="197" name="Google Shape;197;p26"/>
          <p:cNvPicPr preferRelativeResize="0"/>
          <p:nvPr/>
        </p:nvPicPr>
        <p:blipFill>
          <a:blip r:embed="rId6">
            <a:alphaModFix/>
          </a:blip>
          <a:stretch>
            <a:fillRect/>
          </a:stretch>
        </p:blipFill>
        <p:spPr>
          <a:xfrm>
            <a:off x="5186925" y="3992774"/>
            <a:ext cx="2815153" cy="694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7"/>
          <p:cNvSpPr txBox="1"/>
          <p:nvPr>
            <p:ph type="title"/>
          </p:nvPr>
        </p:nvSpPr>
        <p:spPr>
          <a:xfrm>
            <a:off x="430688" y="437134"/>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sz="3200"/>
              <a:t>Experimental Evaluation Cont’d</a:t>
            </a:r>
            <a:endParaRPr/>
          </a:p>
        </p:txBody>
      </p:sp>
      <p:sp>
        <p:nvSpPr>
          <p:cNvPr id="203" name="Google Shape;203;p27"/>
          <p:cNvSpPr txBox="1"/>
          <p:nvPr>
            <p:ph idx="1" type="body"/>
          </p:nvPr>
        </p:nvSpPr>
        <p:spPr>
          <a:xfrm>
            <a:off x="281831" y="1086034"/>
            <a:ext cx="8219700" cy="3836100"/>
          </a:xfrm>
          <a:prstGeom prst="rect">
            <a:avLst/>
          </a:prstGeom>
          <a:noFill/>
          <a:ln>
            <a:noFill/>
          </a:ln>
        </p:spPr>
        <p:txBody>
          <a:bodyPr anchorCtr="0" anchor="t" bIns="34275" lIns="68575" spcFirstLastPara="1" rIns="68575" wrap="square" tIns="34275">
            <a:noAutofit/>
          </a:bodyPr>
          <a:lstStyle/>
          <a:p>
            <a:pPr indent="-317500" lvl="0" marL="457200" rtl="0" algn="l">
              <a:lnSpc>
                <a:spcPct val="100000"/>
              </a:lnSpc>
              <a:spcBef>
                <a:spcPts val="0"/>
              </a:spcBef>
              <a:spcAft>
                <a:spcPts val="0"/>
              </a:spcAft>
              <a:buSzPts val="1400"/>
              <a:buFont typeface="Calibri"/>
              <a:buChar char="●"/>
            </a:pPr>
            <a:r>
              <a:rPr lang="en" sz="1400">
                <a:latin typeface="Calibri"/>
                <a:ea typeface="Calibri"/>
                <a:cs typeface="Calibri"/>
                <a:sym typeface="Calibri"/>
              </a:rPr>
              <a:t>Query 1: Decile Score Distribution by Race</a:t>
            </a:r>
            <a:endParaRPr sz="1400">
              <a:latin typeface="Calibri"/>
              <a:ea typeface="Calibri"/>
              <a:cs typeface="Calibri"/>
              <a:sym typeface="Calibri"/>
            </a:endParaRPr>
          </a:p>
          <a:p>
            <a:pPr indent="-317500" lvl="0" marL="457200" rtl="0" algn="l">
              <a:lnSpc>
                <a:spcPct val="100000"/>
              </a:lnSpc>
              <a:spcBef>
                <a:spcPts val="0"/>
              </a:spcBef>
              <a:spcAft>
                <a:spcPts val="0"/>
              </a:spcAft>
              <a:buSzPts val="1400"/>
              <a:buFont typeface="Calibri"/>
              <a:buChar char="●"/>
            </a:pPr>
            <a:r>
              <a:rPr lang="en" sz="1400">
                <a:latin typeface="Calibri"/>
                <a:ea typeface="Calibri"/>
                <a:cs typeface="Calibri"/>
                <a:sym typeface="Calibri"/>
              </a:rPr>
              <a:t>Relevance of the query:</a:t>
            </a:r>
            <a:endParaRPr sz="1400">
              <a:latin typeface="Calibri"/>
              <a:ea typeface="Calibri"/>
              <a:cs typeface="Calibri"/>
              <a:sym typeface="Calibri"/>
            </a:endParaRPr>
          </a:p>
          <a:p>
            <a:pPr indent="-317500" lvl="1" marL="914400" rtl="0" algn="l">
              <a:lnSpc>
                <a:spcPct val="100000"/>
              </a:lnSpc>
              <a:spcBef>
                <a:spcPts val="0"/>
              </a:spcBef>
              <a:spcAft>
                <a:spcPts val="0"/>
              </a:spcAft>
              <a:buSzPts val="1400"/>
              <a:buFont typeface="Calibri"/>
              <a:buChar char="○"/>
            </a:pPr>
            <a:r>
              <a:rPr lang="en" sz="1400">
                <a:latin typeface="Calibri"/>
                <a:ea typeface="Calibri"/>
                <a:cs typeface="Calibri"/>
                <a:sym typeface="Calibri"/>
              </a:rPr>
              <a:t>Baseline fairness / bias check</a:t>
            </a:r>
            <a:endParaRPr sz="1400">
              <a:latin typeface="Calibri"/>
              <a:ea typeface="Calibri"/>
              <a:cs typeface="Calibri"/>
              <a:sym typeface="Calibri"/>
            </a:endParaRPr>
          </a:p>
          <a:p>
            <a:pPr indent="-317500" lvl="1" marL="914400" rtl="0" algn="l">
              <a:lnSpc>
                <a:spcPct val="100000"/>
              </a:lnSpc>
              <a:spcBef>
                <a:spcPts val="0"/>
              </a:spcBef>
              <a:spcAft>
                <a:spcPts val="0"/>
              </a:spcAft>
              <a:buSzPts val="1400"/>
              <a:buFont typeface="Calibri"/>
              <a:buChar char="○"/>
            </a:pPr>
            <a:r>
              <a:rPr lang="en" sz="1400">
                <a:latin typeface="Calibri"/>
                <a:ea typeface="Calibri"/>
                <a:cs typeface="Calibri"/>
                <a:sym typeface="Calibri"/>
              </a:rPr>
              <a:t>Are some races concentrated in higher COMPAS scores (8–10) more than others?</a:t>
            </a:r>
            <a:endParaRPr sz="1400">
              <a:latin typeface="Calibri"/>
              <a:ea typeface="Calibri"/>
              <a:cs typeface="Calibri"/>
              <a:sym typeface="Calibri"/>
            </a:endParaRPr>
          </a:p>
          <a:p>
            <a:pPr indent="-317500" lvl="1" marL="914400" rtl="0" algn="l">
              <a:lnSpc>
                <a:spcPct val="100000"/>
              </a:lnSpc>
              <a:spcBef>
                <a:spcPts val="0"/>
              </a:spcBef>
              <a:spcAft>
                <a:spcPts val="0"/>
              </a:spcAft>
              <a:buSzPts val="1400"/>
              <a:buFont typeface="Calibri"/>
              <a:buChar char="○"/>
            </a:pPr>
            <a:r>
              <a:rPr lang="en" sz="1400">
                <a:latin typeface="Calibri"/>
                <a:ea typeface="Calibri"/>
                <a:cs typeface="Calibri"/>
                <a:sym typeface="Calibri"/>
              </a:rPr>
              <a:t>Do African-American defendants tend to receive higher risk scores than Caucasian defendants?</a:t>
            </a:r>
            <a:endParaRPr sz="1400">
              <a:latin typeface="Calibri"/>
              <a:ea typeface="Calibri"/>
              <a:cs typeface="Calibri"/>
              <a:sym typeface="Calibri"/>
            </a:endParaRPr>
          </a:p>
          <a:p>
            <a:pPr indent="0" lvl="0" marL="0" rtl="0" algn="l">
              <a:lnSpc>
                <a:spcPct val="100000"/>
              </a:lnSpc>
              <a:spcBef>
                <a:spcPts val="0"/>
              </a:spcBef>
              <a:spcAft>
                <a:spcPts val="0"/>
              </a:spcAft>
              <a:buNone/>
            </a:pPr>
            <a:r>
              <a:t/>
            </a:r>
            <a:endParaRPr sz="1400">
              <a:latin typeface="Calibri"/>
              <a:ea typeface="Calibri"/>
              <a:cs typeface="Calibri"/>
              <a:sym typeface="Calibri"/>
            </a:endParaRPr>
          </a:p>
          <a:p>
            <a:pPr indent="0" lvl="0" marL="0" rtl="0" algn="l">
              <a:lnSpc>
                <a:spcPct val="100000"/>
              </a:lnSpc>
              <a:spcBef>
                <a:spcPts val="0"/>
              </a:spcBef>
              <a:spcAft>
                <a:spcPts val="0"/>
              </a:spcAft>
              <a:buNone/>
            </a:pPr>
            <a:r>
              <a:t/>
            </a:r>
            <a:endParaRPr sz="1400">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400">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400">
              <a:latin typeface="Calibri"/>
              <a:ea typeface="Calibri"/>
              <a:cs typeface="Calibri"/>
              <a:sym typeface="Calibri"/>
            </a:endParaRPr>
          </a:p>
          <a:p>
            <a:pPr indent="0" lvl="0" marL="0" rtl="0" algn="l">
              <a:lnSpc>
                <a:spcPct val="100000"/>
              </a:lnSpc>
              <a:spcBef>
                <a:spcPts val="0"/>
              </a:spcBef>
              <a:spcAft>
                <a:spcPts val="0"/>
              </a:spcAft>
              <a:buNone/>
            </a:pPr>
            <a:r>
              <a:t/>
            </a:r>
            <a:endParaRPr/>
          </a:p>
        </p:txBody>
      </p:sp>
      <p:pic>
        <p:nvPicPr>
          <p:cNvPr id="204" name="Google Shape;204;p27"/>
          <p:cNvPicPr preferRelativeResize="0"/>
          <p:nvPr/>
        </p:nvPicPr>
        <p:blipFill>
          <a:blip r:embed="rId3">
            <a:alphaModFix/>
          </a:blip>
          <a:stretch>
            <a:fillRect/>
          </a:stretch>
        </p:blipFill>
        <p:spPr>
          <a:xfrm>
            <a:off x="1174450" y="2268250"/>
            <a:ext cx="5692150" cy="2602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8"/>
          <p:cNvSpPr txBox="1"/>
          <p:nvPr>
            <p:ph type="title"/>
          </p:nvPr>
        </p:nvSpPr>
        <p:spPr>
          <a:xfrm>
            <a:off x="430688" y="437134"/>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sz="3200"/>
              <a:t>Experimental Evaluation Cont’d</a:t>
            </a:r>
            <a:endParaRPr/>
          </a:p>
        </p:txBody>
      </p:sp>
      <p:sp>
        <p:nvSpPr>
          <p:cNvPr id="210" name="Google Shape;210;p28"/>
          <p:cNvSpPr txBox="1"/>
          <p:nvPr>
            <p:ph idx="1" type="body"/>
          </p:nvPr>
        </p:nvSpPr>
        <p:spPr>
          <a:xfrm>
            <a:off x="281831" y="1086034"/>
            <a:ext cx="8219700" cy="3836100"/>
          </a:xfrm>
          <a:prstGeom prst="rect">
            <a:avLst/>
          </a:prstGeom>
          <a:noFill/>
          <a:ln>
            <a:noFill/>
          </a:ln>
        </p:spPr>
        <p:txBody>
          <a:bodyPr anchorCtr="0" anchor="t" bIns="34275" lIns="68575" spcFirstLastPara="1" rIns="68575" wrap="square" tIns="34275">
            <a:noAutofit/>
          </a:bodyPr>
          <a:lstStyle/>
          <a:p>
            <a:pPr indent="-317500" lvl="0" marL="457200" rtl="0" algn="l">
              <a:lnSpc>
                <a:spcPct val="100000"/>
              </a:lnSpc>
              <a:spcBef>
                <a:spcPts val="0"/>
              </a:spcBef>
              <a:spcAft>
                <a:spcPts val="0"/>
              </a:spcAft>
              <a:buSzPts val="1400"/>
              <a:buFont typeface="Calibri"/>
              <a:buChar char="●"/>
            </a:pPr>
            <a:r>
              <a:rPr lang="en" sz="1400">
                <a:latin typeface="Calibri"/>
                <a:ea typeface="Calibri"/>
                <a:cs typeface="Calibri"/>
                <a:sym typeface="Calibri"/>
              </a:rPr>
              <a:t>Query 2: </a:t>
            </a:r>
            <a:r>
              <a:rPr lang="en" sz="1400">
                <a:latin typeface="Calibri"/>
                <a:ea typeface="Calibri"/>
                <a:cs typeface="Calibri"/>
                <a:sym typeface="Calibri"/>
              </a:rPr>
              <a:t>Mean Decile Score by Outcome</a:t>
            </a:r>
            <a:endParaRPr sz="1400">
              <a:latin typeface="Calibri"/>
              <a:ea typeface="Calibri"/>
              <a:cs typeface="Calibri"/>
              <a:sym typeface="Calibri"/>
            </a:endParaRPr>
          </a:p>
          <a:p>
            <a:pPr indent="-317500" lvl="0" marL="457200" rtl="0" algn="l">
              <a:lnSpc>
                <a:spcPct val="100000"/>
              </a:lnSpc>
              <a:spcBef>
                <a:spcPts val="0"/>
              </a:spcBef>
              <a:spcAft>
                <a:spcPts val="0"/>
              </a:spcAft>
              <a:buSzPts val="1400"/>
              <a:buFont typeface="Calibri"/>
              <a:buChar char="●"/>
            </a:pPr>
            <a:r>
              <a:rPr lang="en" sz="1400">
                <a:latin typeface="Calibri"/>
                <a:ea typeface="Calibri"/>
                <a:cs typeface="Calibri"/>
                <a:sym typeface="Calibri"/>
              </a:rPr>
              <a:t>Relevance of the query:</a:t>
            </a:r>
            <a:endParaRPr sz="1400">
              <a:latin typeface="Calibri"/>
              <a:ea typeface="Calibri"/>
              <a:cs typeface="Calibri"/>
              <a:sym typeface="Calibri"/>
            </a:endParaRPr>
          </a:p>
          <a:p>
            <a:pPr indent="-317500" lvl="1" marL="914400" rtl="0" algn="l">
              <a:lnSpc>
                <a:spcPct val="100000"/>
              </a:lnSpc>
              <a:spcBef>
                <a:spcPts val="0"/>
              </a:spcBef>
              <a:spcAft>
                <a:spcPts val="0"/>
              </a:spcAft>
              <a:buSzPts val="1400"/>
              <a:buFont typeface="Calibri"/>
              <a:buChar char="○"/>
            </a:pPr>
            <a:r>
              <a:rPr lang="en" sz="1400">
                <a:latin typeface="Calibri"/>
                <a:ea typeface="Calibri"/>
                <a:cs typeface="Calibri"/>
                <a:sym typeface="Calibri"/>
              </a:rPr>
              <a:t>Is there a relationship between the Decile Score and Recidivism/re-offender rate?</a:t>
            </a:r>
            <a:endParaRPr sz="1400">
              <a:latin typeface="Calibri"/>
              <a:ea typeface="Calibri"/>
              <a:cs typeface="Calibri"/>
              <a:sym typeface="Calibri"/>
            </a:endParaRPr>
          </a:p>
          <a:p>
            <a:pPr indent="-317500" lvl="1" marL="914400" rtl="0" algn="l">
              <a:lnSpc>
                <a:spcPct val="100000"/>
              </a:lnSpc>
              <a:spcBef>
                <a:spcPts val="0"/>
              </a:spcBef>
              <a:spcAft>
                <a:spcPts val="0"/>
              </a:spcAft>
              <a:buSzPts val="1400"/>
              <a:buFont typeface="Calibri"/>
              <a:buChar char="○"/>
            </a:pPr>
            <a:r>
              <a:rPr lang="en" sz="1400">
                <a:latin typeface="Calibri"/>
                <a:ea typeface="Calibri"/>
                <a:cs typeface="Calibri"/>
                <a:sym typeface="Calibri"/>
              </a:rPr>
              <a:t>Further </a:t>
            </a:r>
            <a:r>
              <a:rPr lang="en" sz="1400">
                <a:latin typeface="Calibri"/>
                <a:ea typeface="Calibri"/>
                <a:cs typeface="Calibri"/>
                <a:sym typeface="Calibri"/>
              </a:rPr>
              <a:t>Baseline fairness / bias check</a:t>
            </a:r>
            <a:endParaRPr sz="1400">
              <a:latin typeface="Calibri"/>
              <a:ea typeface="Calibri"/>
              <a:cs typeface="Calibri"/>
              <a:sym typeface="Calibri"/>
            </a:endParaRPr>
          </a:p>
          <a:p>
            <a:pPr indent="0" lvl="0" marL="0" rtl="0" algn="l">
              <a:lnSpc>
                <a:spcPct val="100000"/>
              </a:lnSpc>
              <a:spcBef>
                <a:spcPts val="0"/>
              </a:spcBef>
              <a:spcAft>
                <a:spcPts val="0"/>
              </a:spcAft>
              <a:buNone/>
            </a:pPr>
            <a:r>
              <a:t/>
            </a:r>
            <a:endParaRPr sz="1400">
              <a:latin typeface="Calibri"/>
              <a:ea typeface="Calibri"/>
              <a:cs typeface="Calibri"/>
              <a:sym typeface="Calibri"/>
            </a:endParaRPr>
          </a:p>
          <a:p>
            <a:pPr indent="0" lvl="0" marL="0" rtl="0" algn="l">
              <a:lnSpc>
                <a:spcPct val="100000"/>
              </a:lnSpc>
              <a:spcBef>
                <a:spcPts val="0"/>
              </a:spcBef>
              <a:spcAft>
                <a:spcPts val="0"/>
              </a:spcAft>
              <a:buNone/>
            </a:pPr>
            <a:r>
              <a:t/>
            </a:r>
            <a:endParaRPr sz="1400">
              <a:latin typeface="Calibri"/>
              <a:ea typeface="Calibri"/>
              <a:cs typeface="Calibri"/>
              <a:sym typeface="Calibri"/>
            </a:endParaRPr>
          </a:p>
          <a:p>
            <a:pPr indent="0" lvl="0" marL="0" rtl="0" algn="l">
              <a:lnSpc>
                <a:spcPct val="100000"/>
              </a:lnSpc>
              <a:spcBef>
                <a:spcPts val="0"/>
              </a:spcBef>
              <a:spcAft>
                <a:spcPts val="0"/>
              </a:spcAft>
              <a:buNone/>
            </a:pPr>
            <a:r>
              <a:t/>
            </a:r>
            <a:endParaRPr sz="1400">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None/>
            </a:pPr>
            <a:r>
              <a:t/>
            </a:r>
            <a:endParaRPr sz="1400">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None/>
            </a:pPr>
            <a:r>
              <a:t/>
            </a:r>
            <a:endParaRPr sz="1400">
              <a:latin typeface="Calibri"/>
              <a:ea typeface="Calibri"/>
              <a:cs typeface="Calibri"/>
              <a:sym typeface="Calibri"/>
            </a:endParaRPr>
          </a:p>
          <a:p>
            <a:pPr indent="0" lvl="0" marL="0" rtl="0" algn="l">
              <a:lnSpc>
                <a:spcPct val="100000"/>
              </a:lnSpc>
              <a:spcBef>
                <a:spcPts val="0"/>
              </a:spcBef>
              <a:spcAft>
                <a:spcPts val="0"/>
              </a:spcAft>
              <a:buNone/>
            </a:pPr>
            <a:r>
              <a:t/>
            </a:r>
            <a:endParaRPr/>
          </a:p>
        </p:txBody>
      </p:sp>
      <p:pic>
        <p:nvPicPr>
          <p:cNvPr id="211" name="Google Shape;211;p28"/>
          <p:cNvPicPr preferRelativeResize="0"/>
          <p:nvPr/>
        </p:nvPicPr>
        <p:blipFill>
          <a:blip r:embed="rId3">
            <a:alphaModFix/>
          </a:blip>
          <a:stretch>
            <a:fillRect/>
          </a:stretch>
        </p:blipFill>
        <p:spPr>
          <a:xfrm>
            <a:off x="1543050" y="2002025"/>
            <a:ext cx="5166351" cy="2920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type="title"/>
          </p:nvPr>
        </p:nvSpPr>
        <p:spPr>
          <a:xfrm>
            <a:off x="430688" y="437134"/>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sz="3200"/>
              <a:t>Experimental Evaluation Cont’d</a:t>
            </a:r>
            <a:endParaRPr/>
          </a:p>
        </p:txBody>
      </p:sp>
      <p:sp>
        <p:nvSpPr>
          <p:cNvPr id="217" name="Google Shape;217;p29"/>
          <p:cNvSpPr txBox="1"/>
          <p:nvPr>
            <p:ph idx="1" type="body"/>
          </p:nvPr>
        </p:nvSpPr>
        <p:spPr>
          <a:xfrm>
            <a:off x="281831" y="1086034"/>
            <a:ext cx="8219700" cy="3836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t/>
            </a:r>
            <a:endParaRPr sz="1800"/>
          </a:p>
          <a:p>
            <a:pPr indent="0" lvl="0" marL="0" rtl="0" algn="l">
              <a:lnSpc>
                <a:spcPct val="115000"/>
              </a:lnSpc>
              <a:spcBef>
                <a:spcPts val="1200"/>
              </a:spcBef>
              <a:spcAft>
                <a:spcPts val="0"/>
              </a:spcAft>
              <a:buSzPts val="1700"/>
              <a:buFont typeface="Arial"/>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SzPts val="1700"/>
              <a:buNone/>
            </a:pPr>
            <a:r>
              <a:t/>
            </a:r>
            <a:endParaRPr b="1" i="0" sz="1800">
              <a:solidFill>
                <a:srgbClr val="1F3864"/>
              </a:solidFill>
              <a:highlight>
                <a:srgbClr val="FFFF00"/>
              </a:highlight>
              <a:latin typeface="Arial"/>
              <a:ea typeface="Arial"/>
              <a:cs typeface="Arial"/>
              <a:sym typeface="Arial"/>
            </a:endParaRPr>
          </a:p>
          <a:p>
            <a:pPr indent="-292100" lvl="0" marL="514350" rtl="0" algn="l">
              <a:lnSpc>
                <a:spcPct val="115000"/>
              </a:lnSpc>
              <a:spcBef>
                <a:spcPts val="0"/>
              </a:spcBef>
              <a:spcAft>
                <a:spcPts val="0"/>
              </a:spcAft>
              <a:buSzPts val="1700"/>
              <a:buFont typeface="Arial"/>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Clr>
                <a:schemeClr val="dk1"/>
              </a:buClr>
              <a:buSzPts val="1700"/>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Clr>
                <a:schemeClr val="dk1"/>
              </a:buClr>
              <a:buSzPts val="1700"/>
              <a:buNone/>
            </a:pP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endParaRPr sz="1800">
              <a:solidFill>
                <a:srgbClr val="1F3864"/>
              </a:solidFill>
            </a:endParaRPr>
          </a:p>
        </p:txBody>
      </p:sp>
      <p:sp>
        <p:nvSpPr>
          <p:cNvPr id="218" name="Google Shape;218;p29"/>
          <p:cNvSpPr txBox="1"/>
          <p:nvPr/>
        </p:nvSpPr>
        <p:spPr>
          <a:xfrm>
            <a:off x="634475" y="1008875"/>
            <a:ext cx="4231800" cy="8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Calibri"/>
                <a:ea typeface="Calibri"/>
                <a:cs typeface="Calibri"/>
                <a:sym typeface="Calibri"/>
              </a:rPr>
              <a:t>Differential Privacy Analysis on count query</a:t>
            </a:r>
            <a:endParaRPr b="1" sz="17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Compare Non-DP Query result with DP results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Effect of tuning the Epsilon value on data utility.</a:t>
            </a:r>
            <a:endParaRPr>
              <a:solidFill>
                <a:schemeClr val="dk1"/>
              </a:solidFill>
              <a:latin typeface="Calibri"/>
              <a:ea typeface="Calibri"/>
              <a:cs typeface="Calibri"/>
              <a:sym typeface="Calibri"/>
            </a:endParaRPr>
          </a:p>
        </p:txBody>
      </p:sp>
      <p:pic>
        <p:nvPicPr>
          <p:cNvPr id="219" name="Google Shape;219;p29"/>
          <p:cNvPicPr preferRelativeResize="0"/>
          <p:nvPr/>
        </p:nvPicPr>
        <p:blipFill>
          <a:blip r:embed="rId3">
            <a:alphaModFix/>
          </a:blip>
          <a:stretch>
            <a:fillRect/>
          </a:stretch>
        </p:blipFill>
        <p:spPr>
          <a:xfrm>
            <a:off x="828475" y="1862907"/>
            <a:ext cx="2720549" cy="1537700"/>
          </a:xfrm>
          <a:prstGeom prst="rect">
            <a:avLst/>
          </a:prstGeom>
          <a:noFill/>
          <a:ln>
            <a:noFill/>
          </a:ln>
        </p:spPr>
      </p:pic>
      <p:pic>
        <p:nvPicPr>
          <p:cNvPr id="220" name="Google Shape;220;p29"/>
          <p:cNvPicPr preferRelativeResize="0"/>
          <p:nvPr/>
        </p:nvPicPr>
        <p:blipFill>
          <a:blip r:embed="rId4">
            <a:alphaModFix/>
          </a:blip>
          <a:stretch>
            <a:fillRect/>
          </a:stretch>
        </p:blipFill>
        <p:spPr>
          <a:xfrm>
            <a:off x="4866275" y="1802900"/>
            <a:ext cx="2720549" cy="1537700"/>
          </a:xfrm>
          <a:prstGeom prst="rect">
            <a:avLst/>
          </a:prstGeom>
          <a:noFill/>
          <a:ln>
            <a:noFill/>
          </a:ln>
        </p:spPr>
      </p:pic>
      <p:pic>
        <p:nvPicPr>
          <p:cNvPr id="221" name="Google Shape;221;p29"/>
          <p:cNvPicPr preferRelativeResize="0"/>
          <p:nvPr/>
        </p:nvPicPr>
        <p:blipFill>
          <a:blip r:embed="rId5">
            <a:alphaModFix/>
          </a:blip>
          <a:stretch>
            <a:fillRect/>
          </a:stretch>
        </p:blipFill>
        <p:spPr>
          <a:xfrm>
            <a:off x="828475" y="3413503"/>
            <a:ext cx="2669099" cy="1508621"/>
          </a:xfrm>
          <a:prstGeom prst="rect">
            <a:avLst/>
          </a:prstGeom>
          <a:noFill/>
          <a:ln>
            <a:noFill/>
          </a:ln>
        </p:spPr>
      </p:pic>
      <p:pic>
        <p:nvPicPr>
          <p:cNvPr id="222" name="Google Shape;222;p29"/>
          <p:cNvPicPr preferRelativeResize="0"/>
          <p:nvPr/>
        </p:nvPicPr>
        <p:blipFill>
          <a:blip r:embed="rId6">
            <a:alphaModFix/>
          </a:blip>
          <a:stretch>
            <a:fillRect/>
          </a:stretch>
        </p:blipFill>
        <p:spPr>
          <a:xfrm>
            <a:off x="4917725" y="3360628"/>
            <a:ext cx="2669099" cy="150862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type="title"/>
          </p:nvPr>
        </p:nvSpPr>
        <p:spPr>
          <a:xfrm>
            <a:off x="430688" y="437134"/>
            <a:ext cx="7470300" cy="648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Clr>
                <a:srgbClr val="00274C"/>
              </a:buClr>
              <a:buSzPts val="3000"/>
              <a:buFont typeface="Arial"/>
              <a:buNone/>
            </a:pPr>
            <a:r>
              <a:rPr lang="en" sz="3200"/>
              <a:t>Experimental Evaluation Cont’d</a:t>
            </a:r>
            <a:endParaRPr/>
          </a:p>
        </p:txBody>
      </p:sp>
      <p:sp>
        <p:nvSpPr>
          <p:cNvPr id="228" name="Google Shape;228;p30"/>
          <p:cNvSpPr txBox="1"/>
          <p:nvPr>
            <p:ph idx="1" type="body"/>
          </p:nvPr>
        </p:nvSpPr>
        <p:spPr>
          <a:xfrm>
            <a:off x="430687" y="1193203"/>
            <a:ext cx="8219700" cy="3674700"/>
          </a:xfrm>
          <a:prstGeom prst="rect">
            <a:avLst/>
          </a:prstGeom>
        </p:spPr>
        <p:txBody>
          <a:bodyPr anchorCtr="0" anchor="t" bIns="34275" lIns="68575" spcFirstLastPara="1" rIns="68575" wrap="square" tIns="34275">
            <a:normAutofit/>
          </a:bodyPr>
          <a:lstStyle/>
          <a:p>
            <a:pPr indent="0" lvl="0" marL="457200" rtl="0" algn="l">
              <a:lnSpc>
                <a:spcPct val="100000"/>
              </a:lnSpc>
              <a:spcBef>
                <a:spcPts val="0"/>
              </a:spcBef>
              <a:spcAft>
                <a:spcPts val="0"/>
              </a:spcAft>
              <a:buNone/>
            </a:pPr>
            <a:r>
              <a:t/>
            </a:r>
            <a:endParaRPr sz="1400">
              <a:latin typeface="Calibri"/>
              <a:ea typeface="Calibri"/>
              <a:cs typeface="Calibri"/>
              <a:sym typeface="Calibri"/>
            </a:endParaRPr>
          </a:p>
          <a:p>
            <a:pPr indent="0" lvl="0" marL="0" rtl="0" algn="l">
              <a:spcBef>
                <a:spcPts val="800"/>
              </a:spcBef>
              <a:spcAft>
                <a:spcPts val="0"/>
              </a:spcAft>
              <a:buNone/>
            </a:pPr>
            <a:r>
              <a:t/>
            </a:r>
            <a:endParaRPr/>
          </a:p>
        </p:txBody>
      </p:sp>
      <p:sp>
        <p:nvSpPr>
          <p:cNvPr id="229" name="Google Shape;229;p30"/>
          <p:cNvSpPr txBox="1"/>
          <p:nvPr/>
        </p:nvSpPr>
        <p:spPr>
          <a:xfrm>
            <a:off x="634475" y="1008875"/>
            <a:ext cx="4231800" cy="8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Calibri"/>
                <a:ea typeface="Calibri"/>
                <a:cs typeface="Calibri"/>
                <a:sym typeface="Calibri"/>
              </a:rPr>
              <a:t>Differential Privacy Analysis on mean query</a:t>
            </a:r>
            <a:endParaRPr b="1" sz="17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Compare Non-DP Query result with DP results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Effect of tuning the Epsilon value on data utility.</a:t>
            </a:r>
            <a:endParaRPr>
              <a:solidFill>
                <a:schemeClr val="dk1"/>
              </a:solidFill>
              <a:latin typeface="Calibri"/>
              <a:ea typeface="Calibri"/>
              <a:cs typeface="Calibri"/>
              <a:sym typeface="Calibri"/>
            </a:endParaRPr>
          </a:p>
        </p:txBody>
      </p:sp>
      <p:pic>
        <p:nvPicPr>
          <p:cNvPr id="230" name="Google Shape;230;p30"/>
          <p:cNvPicPr preferRelativeResize="0"/>
          <p:nvPr/>
        </p:nvPicPr>
        <p:blipFill>
          <a:blip r:embed="rId3">
            <a:alphaModFix/>
          </a:blip>
          <a:stretch>
            <a:fillRect/>
          </a:stretch>
        </p:blipFill>
        <p:spPr>
          <a:xfrm>
            <a:off x="865800" y="1843175"/>
            <a:ext cx="2829095" cy="1599050"/>
          </a:xfrm>
          <a:prstGeom prst="rect">
            <a:avLst/>
          </a:prstGeom>
          <a:noFill/>
          <a:ln>
            <a:noFill/>
          </a:ln>
        </p:spPr>
      </p:pic>
      <p:pic>
        <p:nvPicPr>
          <p:cNvPr id="231" name="Google Shape;231;p30"/>
          <p:cNvPicPr preferRelativeResize="0"/>
          <p:nvPr/>
        </p:nvPicPr>
        <p:blipFill>
          <a:blip r:embed="rId4">
            <a:alphaModFix/>
          </a:blip>
          <a:stretch>
            <a:fillRect/>
          </a:stretch>
        </p:blipFill>
        <p:spPr>
          <a:xfrm>
            <a:off x="4682450" y="1906254"/>
            <a:ext cx="2717499" cy="1535971"/>
          </a:xfrm>
          <a:prstGeom prst="rect">
            <a:avLst/>
          </a:prstGeom>
          <a:noFill/>
          <a:ln>
            <a:noFill/>
          </a:ln>
        </p:spPr>
      </p:pic>
      <p:pic>
        <p:nvPicPr>
          <p:cNvPr id="232" name="Google Shape;232;p30"/>
          <p:cNvPicPr preferRelativeResize="0"/>
          <p:nvPr/>
        </p:nvPicPr>
        <p:blipFill>
          <a:blip r:embed="rId5">
            <a:alphaModFix/>
          </a:blip>
          <a:stretch>
            <a:fillRect/>
          </a:stretch>
        </p:blipFill>
        <p:spPr>
          <a:xfrm>
            <a:off x="997425" y="3442225"/>
            <a:ext cx="2717506" cy="1535975"/>
          </a:xfrm>
          <a:prstGeom prst="rect">
            <a:avLst/>
          </a:prstGeom>
          <a:noFill/>
          <a:ln>
            <a:noFill/>
          </a:ln>
        </p:spPr>
      </p:pic>
      <p:pic>
        <p:nvPicPr>
          <p:cNvPr id="233" name="Google Shape;233;p30"/>
          <p:cNvPicPr preferRelativeResize="0"/>
          <p:nvPr/>
        </p:nvPicPr>
        <p:blipFill>
          <a:blip r:embed="rId6">
            <a:alphaModFix/>
          </a:blip>
          <a:stretch>
            <a:fillRect/>
          </a:stretch>
        </p:blipFill>
        <p:spPr>
          <a:xfrm>
            <a:off x="4785900" y="3442225"/>
            <a:ext cx="2717499" cy="153597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type="title"/>
          </p:nvPr>
        </p:nvSpPr>
        <p:spPr>
          <a:xfrm>
            <a:off x="430688" y="437134"/>
            <a:ext cx="7470300" cy="648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Privacy-Utility Trade Off</a:t>
            </a:r>
            <a:endParaRPr/>
          </a:p>
        </p:txBody>
      </p:sp>
      <p:sp>
        <p:nvSpPr>
          <p:cNvPr id="239" name="Google Shape;239;p31"/>
          <p:cNvSpPr txBox="1"/>
          <p:nvPr>
            <p:ph idx="1" type="body"/>
          </p:nvPr>
        </p:nvSpPr>
        <p:spPr>
          <a:xfrm>
            <a:off x="430687" y="1193203"/>
            <a:ext cx="8219700" cy="3674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 sz="1600"/>
              <a:t>What’s the take away?</a:t>
            </a:r>
            <a:endParaRPr b="1" sz="1600"/>
          </a:p>
          <a:p>
            <a:pPr indent="-298450" lvl="0" marL="457200" rtl="0" algn="l">
              <a:spcBef>
                <a:spcPts val="800"/>
              </a:spcBef>
              <a:spcAft>
                <a:spcPts val="0"/>
              </a:spcAft>
              <a:buSzPts val="1100"/>
              <a:buChar char="•"/>
            </a:pPr>
            <a:r>
              <a:rPr lang="en" sz="1100"/>
              <a:t>As </a:t>
            </a:r>
            <a:r>
              <a:rPr b="1" lang="en" sz="1100"/>
              <a:t>ε increases</a:t>
            </a:r>
            <a:r>
              <a:rPr lang="en" sz="1100"/>
              <a:t>, the </a:t>
            </a:r>
            <a:r>
              <a:rPr b="1" lang="en" sz="1100"/>
              <a:t>MAE drops sharply</a:t>
            </a:r>
            <a:endParaRPr b="1" sz="1100"/>
          </a:p>
          <a:p>
            <a:pPr indent="0" lvl="0" marL="0" rtl="0" algn="l">
              <a:spcBef>
                <a:spcPts val="800"/>
              </a:spcBef>
              <a:spcAft>
                <a:spcPts val="0"/>
              </a:spcAft>
              <a:buNone/>
            </a:pPr>
            <a:r>
              <a:t/>
            </a:r>
            <a:endParaRPr b="1" sz="1100"/>
          </a:p>
          <a:p>
            <a:pPr indent="-298450" lvl="0" marL="457200" rtl="0" algn="l">
              <a:spcBef>
                <a:spcPts val="800"/>
              </a:spcBef>
              <a:spcAft>
                <a:spcPts val="0"/>
              </a:spcAft>
              <a:buSzPts val="1100"/>
              <a:buChar char="•"/>
            </a:pPr>
            <a:r>
              <a:rPr lang="en" sz="1100"/>
              <a:t>Stronger privacy (small ε) causes large errors</a:t>
            </a:r>
            <a:endParaRPr sz="1100"/>
          </a:p>
          <a:p>
            <a:pPr indent="0" lvl="0" marL="0" rtl="0" algn="l">
              <a:spcBef>
                <a:spcPts val="800"/>
              </a:spcBef>
              <a:spcAft>
                <a:spcPts val="0"/>
              </a:spcAft>
              <a:buNone/>
            </a:pPr>
            <a:r>
              <a:rPr lang="en" sz="1100"/>
              <a:t> </a:t>
            </a:r>
            <a:endParaRPr sz="1100"/>
          </a:p>
          <a:p>
            <a:pPr indent="-298450" lvl="0" marL="457200" rtl="0" algn="l">
              <a:spcBef>
                <a:spcPts val="800"/>
              </a:spcBef>
              <a:spcAft>
                <a:spcPts val="0"/>
              </a:spcAft>
              <a:buSzPts val="1100"/>
              <a:buChar char="•"/>
            </a:pPr>
            <a:r>
              <a:rPr lang="en" sz="1100"/>
              <a:t>Weaker privacy (larger ε) gives much better accuracy.</a:t>
            </a:r>
            <a:endParaRPr sz="1100"/>
          </a:p>
          <a:p>
            <a:pPr indent="0" lvl="0" marL="457200" rtl="0" algn="l">
              <a:spcBef>
                <a:spcPts val="800"/>
              </a:spcBef>
              <a:spcAft>
                <a:spcPts val="0"/>
              </a:spcAft>
              <a:buNone/>
            </a:pPr>
            <a:r>
              <a:t/>
            </a:r>
            <a:endParaRPr sz="1100"/>
          </a:p>
          <a:p>
            <a:pPr indent="-298450" lvl="0" marL="457200" rtl="0" algn="l">
              <a:spcBef>
                <a:spcPts val="800"/>
              </a:spcBef>
              <a:spcAft>
                <a:spcPts val="0"/>
              </a:spcAft>
              <a:buSzPts val="1100"/>
              <a:buChar char="•"/>
            </a:pPr>
            <a:r>
              <a:rPr lang="en" sz="1100"/>
              <a:t>Laplace noise is generally more accurate than Gaussian</a:t>
            </a:r>
            <a:endParaRPr sz="1100"/>
          </a:p>
          <a:p>
            <a:pPr indent="0" lvl="0" marL="457200" rtl="0" algn="l">
              <a:spcBef>
                <a:spcPts val="800"/>
              </a:spcBef>
              <a:spcAft>
                <a:spcPts val="0"/>
              </a:spcAft>
              <a:buNone/>
            </a:pPr>
            <a:r>
              <a:t/>
            </a:r>
            <a:endParaRPr sz="1100"/>
          </a:p>
          <a:p>
            <a:pPr indent="-298450" lvl="0" marL="457200" rtl="0" algn="l">
              <a:spcBef>
                <a:spcPts val="800"/>
              </a:spcBef>
              <a:spcAft>
                <a:spcPts val="0"/>
              </a:spcAft>
              <a:buSzPts val="1100"/>
              <a:buChar char="•"/>
            </a:pPr>
            <a:r>
              <a:rPr lang="en" sz="1100"/>
              <a:t>There has to be a balance between </a:t>
            </a:r>
            <a:r>
              <a:rPr lang="en" sz="1100"/>
              <a:t>private</a:t>
            </a:r>
            <a:r>
              <a:rPr lang="en" sz="1100"/>
              <a:t> &amp; utility.</a:t>
            </a:r>
            <a:endParaRPr sz="1100"/>
          </a:p>
        </p:txBody>
      </p:sp>
      <p:pic>
        <p:nvPicPr>
          <p:cNvPr id="240" name="Google Shape;240;p31"/>
          <p:cNvPicPr preferRelativeResize="0"/>
          <p:nvPr/>
        </p:nvPicPr>
        <p:blipFill>
          <a:blip r:embed="rId3">
            <a:alphaModFix/>
          </a:blip>
          <a:stretch>
            <a:fillRect/>
          </a:stretch>
        </p:blipFill>
        <p:spPr>
          <a:xfrm>
            <a:off x="4475650" y="1500175"/>
            <a:ext cx="4491900" cy="2538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2"/>
          <p:cNvSpPr txBox="1"/>
          <p:nvPr>
            <p:ph type="title"/>
          </p:nvPr>
        </p:nvSpPr>
        <p:spPr>
          <a:xfrm>
            <a:off x="430688" y="437134"/>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sz="3200"/>
              <a:t>Challenges / Limitations</a:t>
            </a:r>
            <a:endParaRPr/>
          </a:p>
        </p:txBody>
      </p:sp>
      <p:sp>
        <p:nvSpPr>
          <p:cNvPr id="246" name="Google Shape;246;p32"/>
          <p:cNvSpPr txBox="1"/>
          <p:nvPr>
            <p:ph idx="1" type="body"/>
          </p:nvPr>
        </p:nvSpPr>
        <p:spPr>
          <a:xfrm>
            <a:off x="281831" y="1086034"/>
            <a:ext cx="8219700" cy="3836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434343"/>
                </a:solidFill>
              </a:rPr>
              <a:t>Project challenges that occurred during the development of the project were:</a:t>
            </a:r>
            <a:endParaRPr sz="1800">
              <a:solidFill>
                <a:srgbClr val="434343"/>
              </a:solidFill>
            </a:endParaRPr>
          </a:p>
          <a:p>
            <a:pPr indent="-342900" lvl="0" marL="457200" rtl="0" algn="l">
              <a:lnSpc>
                <a:spcPct val="115000"/>
              </a:lnSpc>
              <a:spcBef>
                <a:spcPts val="1200"/>
              </a:spcBef>
              <a:spcAft>
                <a:spcPts val="0"/>
              </a:spcAft>
              <a:buClr>
                <a:srgbClr val="434343"/>
              </a:buClr>
              <a:buSzPts val="1800"/>
              <a:buFont typeface="Arial"/>
              <a:buChar char="●"/>
            </a:pPr>
            <a:r>
              <a:rPr lang="en" sz="1800">
                <a:solidFill>
                  <a:srgbClr val="434343"/>
                </a:solidFill>
              </a:rPr>
              <a:t>Deciding on the necessary queries to depict the dataset.</a:t>
            </a:r>
            <a:endParaRPr sz="1800">
              <a:solidFill>
                <a:srgbClr val="434343"/>
              </a:solidFill>
            </a:endParaRPr>
          </a:p>
          <a:p>
            <a:pPr indent="-342900" lvl="0" marL="457200" rtl="0" algn="l">
              <a:lnSpc>
                <a:spcPct val="115000"/>
              </a:lnSpc>
              <a:spcBef>
                <a:spcPts val="0"/>
              </a:spcBef>
              <a:spcAft>
                <a:spcPts val="0"/>
              </a:spcAft>
              <a:buClr>
                <a:srgbClr val="434343"/>
              </a:buClr>
              <a:buSzPts val="1800"/>
              <a:buFont typeface="Arial"/>
              <a:buChar char="●"/>
            </a:pPr>
            <a:r>
              <a:rPr lang="en" sz="1800">
                <a:solidFill>
                  <a:srgbClr val="434343"/>
                </a:solidFill>
              </a:rPr>
              <a:t>Implementing the Laplace and Gaussian mechanisms to the queries.</a:t>
            </a:r>
            <a:endParaRPr sz="1800">
              <a:solidFill>
                <a:srgbClr val="434343"/>
              </a:solidFill>
            </a:endParaRPr>
          </a:p>
          <a:p>
            <a:pPr indent="-342900" lvl="0" marL="457200" rtl="0" algn="l">
              <a:lnSpc>
                <a:spcPct val="115000"/>
              </a:lnSpc>
              <a:spcBef>
                <a:spcPts val="0"/>
              </a:spcBef>
              <a:spcAft>
                <a:spcPts val="0"/>
              </a:spcAft>
              <a:buClr>
                <a:srgbClr val="434343"/>
              </a:buClr>
              <a:buSzPts val="1800"/>
              <a:buFont typeface="Arial"/>
              <a:buChar char="●"/>
            </a:pPr>
            <a:r>
              <a:rPr lang="en" sz="1800">
                <a:solidFill>
                  <a:srgbClr val="434343"/>
                </a:solidFill>
              </a:rPr>
              <a:t>Plotting the data from the queries effectively.</a:t>
            </a:r>
            <a:endParaRPr sz="1800">
              <a:solidFill>
                <a:srgbClr val="434343"/>
              </a:solidFill>
            </a:endParaRPr>
          </a:p>
          <a:p>
            <a:pPr indent="-342900" lvl="0" marL="457200" rtl="0" algn="l">
              <a:lnSpc>
                <a:spcPct val="115000"/>
              </a:lnSpc>
              <a:spcBef>
                <a:spcPts val="0"/>
              </a:spcBef>
              <a:spcAft>
                <a:spcPts val="0"/>
              </a:spcAft>
              <a:buClr>
                <a:srgbClr val="434343"/>
              </a:buClr>
              <a:buSzPts val="1800"/>
              <a:buFont typeface="Roboto"/>
              <a:buChar char="●"/>
            </a:pPr>
            <a:r>
              <a:rPr lang="en" sz="1800">
                <a:solidFill>
                  <a:srgbClr val="434343"/>
                </a:solidFill>
              </a:rPr>
              <a:t>Maintaining a clean and concise coding structure.</a:t>
            </a:r>
            <a:endParaRPr sz="1800">
              <a:solidFill>
                <a:srgbClr val="434343"/>
              </a:solidFill>
            </a:endParaRPr>
          </a:p>
          <a:p>
            <a:pPr indent="0" lvl="0" marL="0" rtl="0" algn="l">
              <a:lnSpc>
                <a:spcPct val="115000"/>
              </a:lnSpc>
              <a:spcBef>
                <a:spcPts val="1200"/>
              </a:spcBef>
              <a:spcAft>
                <a:spcPts val="0"/>
              </a:spcAft>
              <a:buNone/>
            </a:pPr>
            <a:r>
              <a:t/>
            </a:r>
            <a:endParaRPr sz="1800"/>
          </a:p>
          <a:p>
            <a:pPr indent="0" lvl="0" marL="0" rtl="0" algn="l">
              <a:lnSpc>
                <a:spcPct val="115000"/>
              </a:lnSpc>
              <a:spcBef>
                <a:spcPts val="1200"/>
              </a:spcBef>
              <a:spcAft>
                <a:spcPts val="0"/>
              </a:spcAft>
              <a:buSzPts val="1700"/>
              <a:buFont typeface="Arial"/>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SzPts val="1700"/>
              <a:buNone/>
            </a:pPr>
            <a:r>
              <a:t/>
            </a:r>
            <a:endParaRPr b="1" i="0" sz="1800">
              <a:solidFill>
                <a:srgbClr val="1F3864"/>
              </a:solidFill>
              <a:highlight>
                <a:srgbClr val="FFFF00"/>
              </a:highlight>
              <a:latin typeface="Arial"/>
              <a:ea typeface="Arial"/>
              <a:cs typeface="Arial"/>
              <a:sym typeface="Arial"/>
            </a:endParaRPr>
          </a:p>
          <a:p>
            <a:pPr indent="-292100" lvl="0" marL="514350" rtl="0" algn="l">
              <a:lnSpc>
                <a:spcPct val="115000"/>
              </a:lnSpc>
              <a:spcBef>
                <a:spcPts val="0"/>
              </a:spcBef>
              <a:spcAft>
                <a:spcPts val="0"/>
              </a:spcAft>
              <a:buSzPts val="1700"/>
              <a:buFont typeface="Arial"/>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Clr>
                <a:schemeClr val="dk1"/>
              </a:buClr>
              <a:buSzPts val="1700"/>
              <a:buNone/>
            </a:pPr>
            <a:r>
              <a:t/>
            </a:r>
            <a:endParaRPr b="0" i="0" sz="1800">
              <a:solidFill>
                <a:srgbClr val="1F3864"/>
              </a:solidFill>
              <a:latin typeface="Arial"/>
              <a:ea typeface="Arial"/>
              <a:cs typeface="Arial"/>
              <a:sym typeface="Arial"/>
            </a:endParaRPr>
          </a:p>
          <a:p>
            <a:pPr indent="0" lvl="0" marL="114300" rtl="0" algn="l">
              <a:lnSpc>
                <a:spcPct val="115000"/>
              </a:lnSpc>
              <a:spcBef>
                <a:spcPts val="0"/>
              </a:spcBef>
              <a:spcAft>
                <a:spcPts val="0"/>
              </a:spcAft>
              <a:buClr>
                <a:schemeClr val="dk1"/>
              </a:buClr>
              <a:buSzPts val="1700"/>
              <a:buNone/>
            </a:pP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br>
              <a:rPr b="0" i="0" lang="en" sz="1800">
                <a:solidFill>
                  <a:srgbClr val="1F3864"/>
                </a:solidFill>
                <a:latin typeface="Arial"/>
                <a:ea typeface="Arial"/>
                <a:cs typeface="Arial"/>
                <a:sym typeface="Arial"/>
              </a:rPr>
            </a:br>
            <a:endParaRPr sz="1800">
              <a:solidFill>
                <a:srgbClr val="1F386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3"/>
          <p:cNvSpPr txBox="1"/>
          <p:nvPr>
            <p:ph type="title"/>
          </p:nvPr>
        </p:nvSpPr>
        <p:spPr>
          <a:xfrm>
            <a:off x="430688" y="437134"/>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sz="3200"/>
              <a:t>Conclusion</a:t>
            </a:r>
            <a:endParaRPr/>
          </a:p>
        </p:txBody>
      </p:sp>
      <p:sp>
        <p:nvSpPr>
          <p:cNvPr id="252" name="Google Shape;252;p33"/>
          <p:cNvSpPr txBox="1"/>
          <p:nvPr>
            <p:ph idx="1" type="body"/>
          </p:nvPr>
        </p:nvSpPr>
        <p:spPr>
          <a:xfrm>
            <a:off x="281831" y="1086034"/>
            <a:ext cx="8219700" cy="3836100"/>
          </a:xfrm>
          <a:prstGeom prst="rect">
            <a:avLst/>
          </a:prstGeom>
          <a:noFill/>
          <a:ln>
            <a:noFill/>
          </a:ln>
        </p:spPr>
        <p:txBody>
          <a:bodyPr anchorCtr="0" anchor="t" bIns="34275" lIns="68575" spcFirstLastPara="1" rIns="68575" wrap="square" tIns="34275">
            <a:noAutofit/>
          </a:bodyPr>
          <a:lstStyle/>
          <a:p>
            <a:pPr indent="-330200" lvl="0" marL="457200" rtl="0" algn="just">
              <a:lnSpc>
                <a:spcPct val="100000"/>
              </a:lnSpc>
              <a:spcBef>
                <a:spcPts val="0"/>
              </a:spcBef>
              <a:spcAft>
                <a:spcPts val="0"/>
              </a:spcAft>
              <a:buSzPts val="1600"/>
              <a:buChar char="●"/>
            </a:pPr>
            <a:r>
              <a:rPr lang="en" sz="1600"/>
              <a:t>Our experiments using the COMPAS dataset demonstrate that strong privacy guarantees can be achieved with minimal loss of interpretability in aggregate statistics. </a:t>
            </a:r>
            <a:endParaRPr sz="1600"/>
          </a:p>
          <a:p>
            <a:pPr indent="-330200" lvl="1" marL="914400" rtl="0" algn="just">
              <a:lnSpc>
                <a:spcPct val="100000"/>
              </a:lnSpc>
              <a:spcBef>
                <a:spcPts val="1000"/>
              </a:spcBef>
              <a:spcAft>
                <a:spcPts val="0"/>
              </a:spcAft>
              <a:buSzPts val="1600"/>
              <a:buChar char="○"/>
            </a:pPr>
            <a:r>
              <a:rPr lang="en" sz="1600"/>
              <a:t>The Laplace mechanism generally produced lower data utility loss compared to Gaussian, especially at moderate and high privacy levels, making it well-suited for releasing summary statistics in sensitive domains. </a:t>
            </a:r>
            <a:endParaRPr sz="1600"/>
          </a:p>
          <a:p>
            <a:pPr indent="-330200" lvl="0" marL="457200" rtl="0" algn="l">
              <a:lnSpc>
                <a:spcPct val="100000"/>
              </a:lnSpc>
              <a:spcBef>
                <a:spcPts val="1000"/>
              </a:spcBef>
              <a:spcAft>
                <a:spcPts val="1000"/>
              </a:spcAft>
              <a:buSzPts val="1600"/>
              <a:buChar char="●"/>
            </a:pPr>
            <a:r>
              <a:rPr lang="en" sz="1600"/>
              <a:t>Despite introducing formal privacy noise, major patterns and disparities observed in the raw data, such as racial gaps in COMPAS scores and recidivism rates, still remained visible after differential privacy was applied. This suggests that differentially private methods can effectively protect individual-level privacy while still enabling meaningful analysis and accountability.</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txBox="1"/>
          <p:nvPr>
            <p:ph type="title"/>
          </p:nvPr>
        </p:nvSpPr>
        <p:spPr>
          <a:xfrm>
            <a:off x="430663" y="273684"/>
            <a:ext cx="7470300" cy="648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274C"/>
              </a:buClr>
              <a:buSzPts val="3000"/>
              <a:buFont typeface="Arial"/>
              <a:buNone/>
            </a:pPr>
            <a:r>
              <a:rPr lang="en"/>
              <a:t>References</a:t>
            </a:r>
            <a:endParaRPr/>
          </a:p>
        </p:txBody>
      </p:sp>
      <p:sp>
        <p:nvSpPr>
          <p:cNvPr id="258" name="Google Shape;258;p34"/>
          <p:cNvSpPr txBox="1"/>
          <p:nvPr>
            <p:ph idx="1" type="body"/>
          </p:nvPr>
        </p:nvSpPr>
        <p:spPr>
          <a:xfrm>
            <a:off x="430675" y="880275"/>
            <a:ext cx="8219700" cy="3987600"/>
          </a:xfrm>
          <a:prstGeom prst="rect">
            <a:avLst/>
          </a:prstGeom>
          <a:noFill/>
          <a:ln>
            <a:noFill/>
          </a:ln>
        </p:spPr>
        <p:txBody>
          <a:bodyPr anchorCtr="0" anchor="t" bIns="34275" lIns="68575" spcFirstLastPara="1" rIns="68575" wrap="square" tIns="34275">
            <a:noAutofit/>
          </a:bodyPr>
          <a:lstStyle/>
          <a:p>
            <a:pPr indent="-190500" lvl="0" marL="190500" rtl="0" algn="l">
              <a:lnSpc>
                <a:spcPct val="115000"/>
              </a:lnSpc>
              <a:spcBef>
                <a:spcPts val="1200"/>
              </a:spcBef>
              <a:spcAft>
                <a:spcPts val="0"/>
              </a:spcAft>
              <a:buClr>
                <a:schemeClr val="dk1"/>
              </a:buClr>
              <a:buSzPts val="1100"/>
              <a:buFont typeface="Arial"/>
              <a:buNone/>
            </a:pPr>
            <a:r>
              <a:rPr lang="en" sz="1100"/>
              <a:t>[1] Cynthia Dwork, Frank McSherry, Kobbi Nissim, and Adam D. Smith. 2006. Calibrating Noise to Sensitivity in Private Data Analysis. TCC 2006, New York, NY, USA, March 4-7, 2006, Proceedings (Lecture Notes in Computer Science), Shai Halevi and Tal Rabin (Eds.), Vol. 3876. Springer, 265–284.</a:t>
            </a:r>
            <a:endParaRPr sz="1100"/>
          </a:p>
          <a:p>
            <a:pPr indent="-190500" lvl="0" marL="190500" rtl="0" algn="l">
              <a:lnSpc>
                <a:spcPct val="115000"/>
              </a:lnSpc>
              <a:spcBef>
                <a:spcPts val="1200"/>
              </a:spcBef>
              <a:spcAft>
                <a:spcPts val="0"/>
              </a:spcAft>
              <a:buClr>
                <a:schemeClr val="dk1"/>
              </a:buClr>
              <a:buSzPts val="1100"/>
              <a:buFont typeface="Arial"/>
              <a:buNone/>
            </a:pPr>
            <a:r>
              <a:rPr lang="en" sz="1100"/>
              <a:t>[2] Cynthia Dwork and Aaron Roth. 2014. The Algorithmic Foundations of Differential Privacy. Found. Trends Theor. Comput. Sci. 9, 3-4 (2014), 211–407.</a:t>
            </a:r>
            <a:endParaRPr sz="1100"/>
          </a:p>
          <a:p>
            <a:pPr indent="-190500" lvl="0" marL="190500" rtl="0" algn="l">
              <a:lnSpc>
                <a:spcPct val="115000"/>
              </a:lnSpc>
              <a:spcBef>
                <a:spcPts val="1200"/>
              </a:spcBef>
              <a:spcAft>
                <a:spcPts val="0"/>
              </a:spcAft>
              <a:buClr>
                <a:schemeClr val="dk1"/>
              </a:buClr>
              <a:buSzPts val="1100"/>
              <a:buFont typeface="Arial"/>
              <a:buNone/>
            </a:pPr>
            <a:r>
              <a:rPr lang="en" sz="1100"/>
              <a:t>[3] Jeff Larson and Marjorie Roswell. 2017. COMPAS-analysis. Github.</a:t>
            </a:r>
            <a:r>
              <a:rPr lang="en" sz="1100">
                <a:uFill>
                  <a:noFill/>
                </a:uFill>
                <a:hlinkClick r:id="rId3"/>
              </a:rPr>
              <a:t> </a:t>
            </a:r>
            <a:r>
              <a:rPr lang="en" sz="1100" u="sng">
                <a:solidFill>
                  <a:schemeClr val="hlink"/>
                </a:solidFill>
                <a:hlinkClick r:id="rId4"/>
              </a:rPr>
              <a:t>GitHub - propublica/compas-analysis: Data and analysis for 'Machine Bias'</a:t>
            </a:r>
            <a:endParaRPr sz="1100" u="sng">
              <a:solidFill>
                <a:schemeClr val="hlink"/>
              </a:solidFill>
            </a:endParaRPr>
          </a:p>
          <a:p>
            <a:pPr indent="-190500" lvl="0" marL="190500" rtl="0" algn="l">
              <a:lnSpc>
                <a:spcPct val="115000"/>
              </a:lnSpc>
              <a:spcBef>
                <a:spcPts val="1200"/>
              </a:spcBef>
              <a:spcAft>
                <a:spcPts val="0"/>
              </a:spcAft>
              <a:buClr>
                <a:schemeClr val="dk1"/>
              </a:buClr>
              <a:buSzPts val="1100"/>
              <a:buFont typeface="Arial"/>
              <a:buNone/>
            </a:pPr>
            <a:r>
              <a:rPr lang="en" sz="1100"/>
              <a:t>[4]  National Institute of Standards and Technology, Guide to Protecting the Confidentiality of Personally Identifiable Information (PII), SP 800-122. Gaithersburg, MD, USA: NIST, 2010.</a:t>
            </a:r>
            <a:r>
              <a:rPr lang="en" sz="1100">
                <a:uFill>
                  <a:noFill/>
                </a:uFill>
                <a:hlinkClick r:id="rId5"/>
              </a:rPr>
              <a:t> </a:t>
            </a:r>
            <a:r>
              <a:rPr lang="en" sz="1100" u="sng">
                <a:solidFill>
                  <a:schemeClr val="hlink"/>
                </a:solidFill>
                <a:hlinkClick r:id="rId6"/>
              </a:rPr>
              <a:t>https://csrc.nist.gov/pubs/sp/800/122/final</a:t>
            </a:r>
            <a:endParaRPr sz="1100" u="sng">
              <a:solidFill>
                <a:schemeClr val="hlink"/>
              </a:solidFill>
            </a:endParaRPr>
          </a:p>
          <a:p>
            <a:pPr indent="-190500" lvl="0" marL="190500" rtl="0" algn="l">
              <a:lnSpc>
                <a:spcPct val="115000"/>
              </a:lnSpc>
              <a:spcBef>
                <a:spcPts val="1200"/>
              </a:spcBef>
              <a:spcAft>
                <a:spcPts val="0"/>
              </a:spcAft>
              <a:buClr>
                <a:schemeClr val="dk1"/>
              </a:buClr>
              <a:buSzPts val="1100"/>
              <a:buFont typeface="Arial"/>
              <a:buNone/>
            </a:pPr>
            <a:r>
              <a:rPr lang="en" sz="1100"/>
              <a:t>[5]  Protecting Americans From Harmful Data Broker Practices (Regulation V). Federal Register, vol. 89, no. 239, pp. 87621–87727, Dec. 13, 2024.</a:t>
            </a:r>
            <a:r>
              <a:rPr lang="en" sz="1100">
                <a:uFill>
                  <a:noFill/>
                </a:uFill>
                <a:hlinkClick r:id="rId7"/>
              </a:rPr>
              <a:t> </a:t>
            </a:r>
            <a:r>
              <a:rPr lang="en" sz="1100" u="sng">
                <a:solidFill>
                  <a:schemeClr val="hlink"/>
                </a:solidFill>
                <a:hlinkClick r:id="rId8"/>
              </a:rPr>
              <a:t>https://www.federalregister.gov/documents/2024/12/13/2024-28690/protecting-americans-from-harmful-data-broker-practices-regulation-v</a:t>
            </a:r>
            <a:endParaRPr sz="1100" u="sng">
              <a:solidFill>
                <a:schemeClr val="hlink"/>
              </a:solidFill>
            </a:endParaRPr>
          </a:p>
          <a:p>
            <a:pPr indent="-190500" lvl="0" marL="190500" rtl="0" algn="l">
              <a:lnSpc>
                <a:spcPct val="115000"/>
              </a:lnSpc>
              <a:spcBef>
                <a:spcPts val="1200"/>
              </a:spcBef>
              <a:spcAft>
                <a:spcPts val="0"/>
              </a:spcAft>
              <a:buClr>
                <a:schemeClr val="dk1"/>
              </a:buClr>
              <a:buSzPts val="1100"/>
              <a:buFont typeface="Arial"/>
              <a:buNone/>
            </a:pPr>
            <a:r>
              <a:rPr lang="en" sz="1100"/>
              <a:t>[6] L. Sweeney. 2000. Simple Demographics Often Identify People Uniquely. Data Privacy Working Paper 3, Carnegie Mellon Univ., Pittsburgh, PA, USA, 2000.</a:t>
            </a:r>
            <a:endParaRPr sz="1100"/>
          </a:p>
          <a:p>
            <a:pPr indent="-190500" lvl="0" marL="190500" rtl="0" algn="l">
              <a:lnSpc>
                <a:spcPct val="115000"/>
              </a:lnSpc>
              <a:spcBef>
                <a:spcPts val="1200"/>
              </a:spcBef>
              <a:spcAft>
                <a:spcPts val="0"/>
              </a:spcAft>
              <a:buClr>
                <a:schemeClr val="dk1"/>
              </a:buClr>
              <a:buSzPts val="1100"/>
              <a:buFont typeface="Arial"/>
              <a:buNone/>
            </a:pPr>
            <a:r>
              <a:rPr lang="en" sz="1100"/>
              <a:t>[7]  Northpointe. 2015. Practitioner’s Guide to COMPAS Core.</a:t>
            </a:r>
            <a:r>
              <a:rPr lang="en" sz="1100">
                <a:uFill>
                  <a:noFill/>
                </a:uFill>
                <a:hlinkClick r:id="rId9"/>
              </a:rPr>
              <a:t> </a:t>
            </a:r>
            <a:r>
              <a:rPr lang="en" sz="1100" u="sng">
                <a:solidFill>
                  <a:schemeClr val="hlink"/>
                </a:solidFill>
                <a:hlinkClick r:id="rId10"/>
              </a:rPr>
              <a:t>Practitioner-s-Guide-to-COMPAS-Core.pdf</a:t>
            </a:r>
            <a:endParaRPr sz="1100" u="sng">
              <a:solidFill>
                <a:schemeClr val="hlink"/>
              </a:solidFill>
            </a:endParaRPr>
          </a:p>
          <a:p>
            <a:pPr indent="0" lvl="0" marL="114300" rtl="0" algn="l">
              <a:lnSpc>
                <a:spcPct val="115000"/>
              </a:lnSpc>
              <a:spcBef>
                <a:spcPts val="1200"/>
              </a:spcBef>
              <a:spcAft>
                <a:spcPts val="0"/>
              </a:spcAft>
              <a:buClr>
                <a:schemeClr val="dk1"/>
              </a:buClr>
              <a:buSzPts val="1700"/>
              <a:buFont typeface="Arial"/>
              <a:buNone/>
            </a:pPr>
            <a:r>
              <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ph idx="1" type="body"/>
          </p:nvPr>
        </p:nvSpPr>
        <p:spPr>
          <a:xfrm>
            <a:off x="2451600" y="1972950"/>
            <a:ext cx="4240800" cy="1197600"/>
          </a:xfrm>
          <a:prstGeom prst="rect">
            <a:avLst/>
          </a:prstGeom>
          <a:noFill/>
          <a:ln>
            <a:noFill/>
          </a:ln>
        </p:spPr>
        <p:txBody>
          <a:bodyPr anchorCtr="0" anchor="t" bIns="34275" lIns="68575" spcFirstLastPara="1" rIns="68575" wrap="square" tIns="34275">
            <a:normAutofit fontScale="85000" lnSpcReduction="20000"/>
          </a:bodyPr>
          <a:lstStyle/>
          <a:p>
            <a:pPr indent="0" lvl="0" marL="120650" rtl="0" algn="ctr">
              <a:lnSpc>
                <a:spcPct val="90000"/>
              </a:lnSpc>
              <a:spcBef>
                <a:spcPts val="800"/>
              </a:spcBef>
              <a:spcAft>
                <a:spcPts val="0"/>
              </a:spcAft>
              <a:buSzPct val="31481"/>
              <a:buNone/>
            </a:pPr>
            <a:r>
              <a:rPr b="1" lang="en" sz="5400">
                <a:solidFill>
                  <a:srgbClr val="00274C"/>
                </a:solidFill>
              </a:rPr>
              <a:t>Thank you!</a:t>
            </a:r>
            <a:endParaRPr b="1" sz="5400">
              <a:solidFill>
                <a:srgbClr val="00274C"/>
              </a:solidFill>
            </a:endParaRPr>
          </a:p>
          <a:p>
            <a:pPr indent="0" lvl="0" marL="120650" rtl="0" algn="ctr">
              <a:lnSpc>
                <a:spcPct val="90000"/>
              </a:lnSpc>
              <a:spcBef>
                <a:spcPts val="800"/>
              </a:spcBef>
              <a:spcAft>
                <a:spcPts val="0"/>
              </a:spcAft>
              <a:buSzPct val="31481"/>
              <a:buNone/>
            </a:pPr>
            <a:r>
              <a:rPr b="1" lang="en" sz="5400">
                <a:solidFill>
                  <a:srgbClr val="00274C"/>
                </a:solidFill>
              </a:rPr>
              <a:t>Questions?</a:t>
            </a:r>
            <a:endParaRPr b="1" sz="5400">
              <a:solidFill>
                <a:srgbClr val="00274C"/>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